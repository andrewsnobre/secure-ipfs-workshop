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8" r:id="rId1"/>
  </p:sldMasterIdLst>
  <p:sldIdLst>
    <p:sldId id="279" r:id="rId2"/>
    <p:sldId id="303" r:id="rId3"/>
    <p:sldId id="277" r:id="rId4"/>
    <p:sldId id="278" r:id="rId5"/>
    <p:sldId id="304" r:id="rId6"/>
    <p:sldId id="281" r:id="rId7"/>
    <p:sldId id="305" r:id="rId8"/>
    <p:sldId id="297" r:id="rId9"/>
    <p:sldId id="284" r:id="rId10"/>
    <p:sldId id="285" r:id="rId11"/>
    <p:sldId id="296" r:id="rId12"/>
    <p:sldId id="287" r:id="rId13"/>
    <p:sldId id="288" r:id="rId14"/>
    <p:sldId id="295" r:id="rId15"/>
    <p:sldId id="290" r:id="rId16"/>
    <p:sldId id="291" r:id="rId17"/>
    <p:sldId id="292" r:id="rId18"/>
    <p:sldId id="310" r:id="rId19"/>
    <p:sldId id="300" r:id="rId20"/>
    <p:sldId id="294" r:id="rId21"/>
    <p:sldId id="299" r:id="rId22"/>
    <p:sldId id="306" r:id="rId23"/>
    <p:sldId id="307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71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6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908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93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27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4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1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56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2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01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6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41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9284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89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210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94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18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3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197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  <p:sldLayoutId id="214748390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Everblock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3816" y="2121407"/>
            <a:ext cx="7315200" cy="821293"/>
          </a:xfrm>
        </p:spPr>
        <p:txBody>
          <a:bodyPr/>
          <a:lstStyle/>
          <a:p>
            <a:pPr algn="ctr"/>
            <a:r>
              <a:rPr lang="pt-BR" sz="3200" b="1" dirty="0"/>
              <a:t>Anatomia dos Hacks na </a:t>
            </a:r>
            <a:r>
              <a:rPr lang="pt-BR" sz="3200" b="1" dirty="0">
                <a:solidFill>
                  <a:srgbClr val="00E676"/>
                </a:solidFill>
              </a:rPr>
              <a:t>Web3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0704" y="3309622"/>
            <a:ext cx="7315200" cy="6858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Segoe UI"/>
              </a:rPr>
              <a:t>O que Está Quebrando a Segurança do Ecossistema</a:t>
            </a:r>
          </a:p>
          <a:p>
            <a:pPr algn="ctr">
              <a:spcBef>
                <a:spcPts val="1400"/>
              </a:spcBef>
            </a:pPr>
            <a:r>
              <a:rPr lang="pt-BR" sz="1500" dirty="0">
                <a:solidFill>
                  <a:srgbClr val="00E676"/>
                </a:solidFill>
                <a:latin typeface="Consolas"/>
              </a:rPr>
              <a:t>$ </a:t>
            </a:r>
            <a:r>
              <a:rPr lang="pt-BR" sz="1500" dirty="0">
                <a:solidFill>
                  <a:srgbClr val="8B949E"/>
                </a:solidFill>
                <a:latin typeface="Consolas"/>
              </a:rPr>
              <a:t>Andrews Rodrigues</a:t>
            </a:r>
          </a:p>
        </p:txBody>
      </p:sp>
      <p:sp>
        <p:nvSpPr>
          <p:cNvPr id="50" name="tag"/>
          <p:cNvSpPr/>
          <p:nvPr/>
        </p:nvSpPr>
        <p:spPr>
          <a:xfrm>
            <a:off x="585216" y="1273193"/>
            <a:ext cx="7772400" cy="350000"/>
          </a:xfrm>
          <a:prstGeom prst="rect">
            <a:avLst/>
          </a:prstGeom>
          <a:noFill/>
        </p:spPr>
        <p:txBody>
          <a:bodyPr lIns="0" anchor="ctr"/>
          <a:lstStyle/>
          <a:p>
            <a:pPr algn="ctr"/>
            <a:r>
              <a:rPr lang="en-US" sz="1400" dirty="0">
                <a:solidFill>
                  <a:srgbClr val="22D3EE"/>
                </a:solidFill>
                <a:latin typeface="Consolas"/>
              </a:rPr>
              <a:t>&gt; threat_analysis --target web3 --scope ecosystem</a:t>
            </a:r>
          </a:p>
        </p:txBody>
      </p:sp>
      <p:sp>
        <p:nvSpPr>
          <p:cNvPr id="51" name="divider"/>
          <p:cNvSpPr/>
          <p:nvPr/>
        </p:nvSpPr>
        <p:spPr>
          <a:xfrm>
            <a:off x="6681216" y="2923650"/>
            <a:ext cx="10668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8517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60EA0-99D4-2E3C-556A-A539486D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74036" y="746086"/>
            <a:ext cx="6377940" cy="1293028"/>
          </a:xfrm>
        </p:spPr>
        <p:txBody>
          <a:bodyPr/>
          <a:lstStyle/>
          <a:p>
            <a:r>
              <a:rPr lang="pt-BR" dirty="0"/>
              <a:t>Palestrante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4DBC92-D460-BE7A-5112-314C6627B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73709"/>
            <a:ext cx="8229600" cy="3827463"/>
          </a:xfrm>
        </p:spPr>
        <p:txBody>
          <a:bodyPr>
            <a:normAutofit fontScale="55000" lnSpcReduction="20000"/>
          </a:bodyPr>
          <a:lstStyle/>
          <a:p>
            <a:r>
              <a:rPr lang="pt-BR" sz="2600" dirty="0"/>
              <a:t>+20 anos DEV em TI  | Web3 desde 2017</a:t>
            </a:r>
          </a:p>
          <a:p>
            <a:endParaRPr lang="pt-BR" sz="2600" dirty="0"/>
          </a:p>
          <a:p>
            <a:r>
              <a:rPr lang="pt-BR" sz="2600" dirty="0"/>
              <a:t>CTO da TS4, atua como especialista em segurança Web3, auditoria de </a:t>
            </a:r>
            <a:r>
              <a:rPr lang="pt-BR" sz="2600" dirty="0" err="1"/>
              <a:t>smart</a:t>
            </a:r>
            <a:r>
              <a:rPr lang="pt-BR" sz="2600" dirty="0"/>
              <a:t> </a:t>
            </a:r>
            <a:r>
              <a:rPr lang="pt-BR" sz="2600" dirty="0" err="1"/>
              <a:t>contracts</a:t>
            </a:r>
            <a:r>
              <a:rPr lang="pt-BR" sz="2600" dirty="0"/>
              <a:t> e análise de incidentes de </a:t>
            </a:r>
            <a:r>
              <a:rPr lang="pt-BR" sz="2600"/>
              <a:t>segurança Web3.</a:t>
            </a:r>
            <a:endParaRPr lang="pt-BR" sz="2600" dirty="0"/>
          </a:p>
          <a:p>
            <a:endParaRPr lang="pt-BR" sz="2600" dirty="0"/>
          </a:p>
          <a:p>
            <a:r>
              <a:rPr lang="pt-BR" sz="2600" dirty="0"/>
              <a:t>Líder técnico do *</a:t>
            </a:r>
            <a:r>
              <a:rPr lang="pt-BR" sz="2600" dirty="0" err="1"/>
              <a:t>Everblock</a:t>
            </a:r>
            <a:r>
              <a:rPr lang="pt-BR" sz="2600" dirty="0"/>
              <a:t>, tecnologia reconhecida como estratégica de Defesa pelo Ministério da Defesa do Brasil.</a:t>
            </a:r>
          </a:p>
          <a:p>
            <a:endParaRPr lang="pt-BR" sz="2600" dirty="0"/>
          </a:p>
          <a:p>
            <a:r>
              <a:rPr lang="pt-BR" sz="2600" dirty="0"/>
              <a:t>Atuante em projetos web3 internacionais desde 2022.</a:t>
            </a:r>
          </a:p>
          <a:p>
            <a:endParaRPr lang="pt-BR" sz="2600" dirty="0"/>
          </a:p>
          <a:p>
            <a:r>
              <a:rPr lang="pt-BR" sz="2600" dirty="0"/>
              <a:t>Professor de segurança em Blockchain e tecnologias descentralizadas em programas de pós-graduação. </a:t>
            </a:r>
          </a:p>
          <a:p>
            <a:endParaRPr lang="pt-BR" sz="2600" dirty="0"/>
          </a:p>
          <a:p>
            <a:r>
              <a:rPr lang="pt-BR" sz="2600" dirty="0"/>
              <a:t>Trabalha no desenvolvimento e pesquisa de infraestruturas de soberania digital e </a:t>
            </a:r>
            <a:r>
              <a:rPr lang="pt-BR" sz="2600" dirty="0" err="1"/>
              <a:t>autocustódia</a:t>
            </a:r>
            <a:r>
              <a:rPr lang="pt-BR" sz="2600" dirty="0"/>
              <a:t> de dados baseadas em blockchain e IPFS. (Selaris.io)</a:t>
            </a:r>
          </a:p>
          <a:p>
            <a:endParaRPr lang="pt-BR" sz="2000" dirty="0"/>
          </a:p>
          <a:p>
            <a:endParaRPr lang="pt-BR" sz="2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ADC2AAA-5CAC-E132-A26A-16EABF5FA9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02" r="8854" b="25931"/>
          <a:stretch>
            <a:fillRect/>
          </a:stretch>
        </p:blipFill>
        <p:spPr>
          <a:xfrm>
            <a:off x="5256975" y="365828"/>
            <a:ext cx="3680460" cy="157258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732648C-5FEB-F954-5752-238DA46B47DB}"/>
              </a:ext>
            </a:extLst>
          </p:cNvPr>
          <p:cNvSpPr txBox="1"/>
          <p:nvPr/>
        </p:nvSpPr>
        <p:spPr>
          <a:xfrm>
            <a:off x="5550408" y="6146800"/>
            <a:ext cx="3730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*https://pt.wikipedia.org/wiki/Everblock</a:t>
            </a:r>
            <a:endParaRPr lang="pt-BR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931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Tese Central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algn="l">
              <a:buNone/>
            </a:pPr>
            <a:r>
              <a:rPr lang="pt-BR" sz="2400" dirty="0">
                <a:solidFill>
                  <a:schemeClr val="tx1"/>
                </a:solidFill>
                <a:latin typeface="Segoe UI"/>
              </a:rPr>
              <a:t>Não estamos vendo hacks aleatórios.</a:t>
            </a:r>
          </a:p>
          <a:p>
            <a:pPr marL="285750" algn="l">
              <a:spcBef>
                <a:spcPts val="2000"/>
              </a:spcBef>
              <a:buNone/>
            </a:pPr>
            <a:r>
              <a:rPr lang="pt-BR" sz="3200" b="1" dirty="0">
                <a:solidFill>
                  <a:srgbClr val="00E676"/>
                </a:solidFill>
                <a:latin typeface="Segoe UI"/>
              </a:rPr>
              <a:t>Estamos vendo os mesmos erros de engenharia se repetirem.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qbar"/>
          <p:cNvSpPr/>
          <p:nvPr/>
        </p:nvSpPr>
        <p:spPr>
          <a:xfrm>
            <a:off x="457200" y="2057400"/>
            <a:ext cx="50800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2849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Estado da Segurança Web3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pt-BR" sz="2400" b="1" dirty="0">
                <a:solidFill>
                  <a:schemeClr val="tx1"/>
                </a:solidFill>
                <a:latin typeface="Segoe UI"/>
              </a:rPr>
              <a:t>Por que continuamos perdendo </a:t>
            </a:r>
            <a:r>
              <a:rPr lang="pt-BR" sz="2400" b="1" dirty="0">
                <a:solidFill>
                  <a:srgbClr val="00E676"/>
                </a:solidFill>
                <a:latin typeface="Segoe UI"/>
              </a:rPr>
              <a:t>bilhões</a:t>
            </a:r>
            <a:r>
              <a:rPr lang="pt-BR" sz="2400" b="1" dirty="0">
                <a:solidFill>
                  <a:schemeClr val="tx1"/>
                </a:solidFill>
                <a:latin typeface="Segoe UI"/>
              </a:rPr>
              <a:t> mesmo após </a:t>
            </a:r>
            <a:r>
              <a:rPr lang="pt-BR" sz="2400" b="1" dirty="0">
                <a:solidFill>
                  <a:srgbClr val="22D3EE"/>
                </a:solidFill>
                <a:latin typeface="Segoe UI"/>
              </a:rPr>
              <a:t>milhares de auditorias</a:t>
            </a:r>
            <a:r>
              <a:rPr lang="pt-BR" sz="2400" b="1" dirty="0">
                <a:solidFill>
                  <a:schemeClr val="tx1"/>
                </a:solidFill>
                <a:latin typeface="Segoe UI"/>
              </a:rPr>
              <a:t>?</a:t>
            </a:r>
          </a:p>
          <a:p>
            <a:pPr algn="l">
              <a:spcBef>
                <a:spcPts val="1400"/>
              </a:spcBef>
              <a:buNone/>
            </a:pPr>
            <a:r>
              <a:rPr lang="pt-BR" sz="1700" dirty="0">
                <a:solidFill>
                  <a:srgbClr val="8B949E"/>
                </a:solidFill>
                <a:latin typeface="Segoe UI"/>
              </a:rPr>
              <a:t>O blockchain quase nunca é o problema. As quatro superfícies de falha recorrentes são: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card0"/>
          <p:cNvSpPr/>
          <p:nvPr/>
        </p:nvSpPr>
        <p:spPr>
          <a:xfrm>
            <a:off x="457200" y="4546600"/>
            <a:ext cx="18796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00E676"/>
            </a:solidFill>
          </a:ln>
        </p:spPr>
        <p:txBody>
          <a:bodyPr lIns="91440" tIns="91440" rIns="91440" bIns="91440" anchor="ctr"/>
          <a:lstStyle/>
          <a:p>
            <a:pPr algn="ctr"/>
            <a:r>
              <a:rPr lang="en-US" sz="1500" b="1" dirty="0">
                <a:solidFill>
                  <a:srgbClr val="00E676"/>
                </a:solidFill>
                <a:latin typeface="Consolas"/>
              </a:rPr>
              <a:t>01</a:t>
            </a:r>
          </a:p>
          <a:p>
            <a:pPr algn="ctr">
              <a:spcBef>
                <a:spcPts val="600"/>
              </a:spcBef>
            </a:pPr>
            <a:r>
              <a:rPr lang="pt-BR" sz="1600" b="1" dirty="0">
                <a:solidFill>
                  <a:schemeClr val="tx1"/>
                </a:solidFill>
                <a:latin typeface="Segoe UI"/>
              </a:rPr>
              <a:t>Arquitetura</a:t>
            </a:r>
          </a:p>
        </p:txBody>
      </p:sp>
      <p:sp>
        <p:nvSpPr>
          <p:cNvPr id="71" name="card1"/>
          <p:cNvSpPr/>
          <p:nvPr/>
        </p:nvSpPr>
        <p:spPr>
          <a:xfrm>
            <a:off x="2573782" y="4546600"/>
            <a:ext cx="18796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txBody>
          <a:bodyPr lIns="91440" tIns="91440" rIns="91440" bIns="91440" anchor="ctr"/>
          <a:lstStyle/>
          <a:p>
            <a:pPr algn="ctr"/>
            <a:r>
              <a:rPr lang="en-US" sz="1500" b="1" dirty="0">
                <a:solidFill>
                  <a:srgbClr val="22D3EE"/>
                </a:solidFill>
                <a:latin typeface="Consolas"/>
              </a:rPr>
              <a:t>02</a:t>
            </a:r>
          </a:p>
          <a:p>
            <a:pPr algn="ctr">
              <a:spcBef>
                <a:spcPts val="600"/>
              </a:spcBef>
            </a:pPr>
            <a:r>
              <a:rPr lang="pt-BR" sz="1600" b="1" dirty="0">
                <a:solidFill>
                  <a:schemeClr val="tx1"/>
                </a:solidFill>
                <a:latin typeface="Segoe UI"/>
              </a:rPr>
              <a:t>Operação</a:t>
            </a:r>
          </a:p>
        </p:txBody>
      </p:sp>
      <p:sp>
        <p:nvSpPr>
          <p:cNvPr id="72" name="card2"/>
          <p:cNvSpPr/>
          <p:nvPr/>
        </p:nvSpPr>
        <p:spPr>
          <a:xfrm>
            <a:off x="4690364" y="4546600"/>
            <a:ext cx="18796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</p:spPr>
        <p:txBody>
          <a:bodyPr lIns="91440" tIns="91440" rIns="91440" bIns="91440" anchor="ctr"/>
          <a:lstStyle/>
          <a:p>
            <a:pPr algn="ctr"/>
            <a:r>
              <a:rPr lang="en-US" sz="1500" b="1" dirty="0">
                <a:solidFill>
                  <a:srgbClr val="A78BFA"/>
                </a:solidFill>
                <a:latin typeface="Consolas"/>
              </a:rPr>
              <a:t>03</a:t>
            </a:r>
          </a:p>
          <a:p>
            <a:pPr algn="ctr">
              <a:spcBef>
                <a:spcPts val="600"/>
              </a:spcBef>
            </a:pPr>
            <a:r>
              <a:rPr lang="pt-BR" sz="1600" b="1" dirty="0">
                <a:solidFill>
                  <a:schemeClr val="tx1"/>
                </a:solidFill>
                <a:latin typeface="Segoe UI"/>
              </a:rPr>
              <a:t>Governança</a:t>
            </a:r>
          </a:p>
        </p:txBody>
      </p:sp>
      <p:sp>
        <p:nvSpPr>
          <p:cNvPr id="73" name="card3"/>
          <p:cNvSpPr/>
          <p:nvPr/>
        </p:nvSpPr>
        <p:spPr>
          <a:xfrm>
            <a:off x="6806946" y="4546600"/>
            <a:ext cx="18796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FBBF24"/>
            </a:solidFill>
          </a:ln>
        </p:spPr>
        <p:txBody>
          <a:bodyPr lIns="91440" tIns="91440" rIns="91440" bIns="91440" anchor="ctr"/>
          <a:lstStyle/>
          <a:p>
            <a:pPr algn="ctr"/>
            <a:r>
              <a:rPr lang="en-US" sz="1500" b="1" dirty="0">
                <a:solidFill>
                  <a:srgbClr val="FBBF24"/>
                </a:solidFill>
                <a:latin typeface="Consolas"/>
              </a:rPr>
              <a:t>04</a:t>
            </a:r>
          </a:p>
          <a:p>
            <a:pPr algn="ctr">
              <a:spcBef>
                <a:spcPts val="600"/>
              </a:spcBef>
            </a:pPr>
            <a:r>
              <a:rPr lang="pt-BR" sz="1600" b="1" dirty="0">
                <a:solidFill>
                  <a:schemeClr val="tx1"/>
                </a:solidFill>
                <a:latin typeface="Segoe UI"/>
              </a:rPr>
              <a:t>Gestão de Chaves</a:t>
            </a:r>
          </a:p>
        </p:txBody>
      </p:sp>
    </p:spTree>
    <p:extLst>
      <p:ext uri="{BB962C8B-B14F-4D97-AF65-F5344CB8AC3E}">
        <p14:creationId xmlns:p14="http://schemas.microsoft.com/office/powerpoint/2010/main" val="2853121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Taxonomia</a:t>
            </a:r>
            <a:r>
              <a:rPr dirty="0"/>
              <a:t> dos Hacks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b0"/>
          <p:cNvSpPr/>
          <p:nvPr/>
        </p:nvSpPr>
        <p:spPr>
          <a:xfrm>
            <a:off x="508000" y="1739900"/>
            <a:ext cx="609600" cy="6096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 w="19050">
            <a:solidFill>
              <a:srgbClr val="00E676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000" b="1" dirty="0">
                <a:solidFill>
                  <a:srgbClr val="00E676"/>
                </a:solidFill>
                <a:latin typeface="Consolas"/>
              </a:rPr>
              <a:t>1</a:t>
            </a:r>
          </a:p>
        </p:txBody>
      </p:sp>
      <p:sp>
        <p:nvSpPr>
          <p:cNvPr id="90" name="t0"/>
          <p:cNvSpPr/>
          <p:nvPr/>
        </p:nvSpPr>
        <p:spPr>
          <a:xfrm>
            <a:off x="1320800" y="1676400"/>
            <a:ext cx="7112000" cy="736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pt-BR" sz="1800" b="1" dirty="0">
                <a:solidFill>
                  <a:schemeClr val="tx1"/>
                </a:solidFill>
                <a:latin typeface="Segoe UI"/>
              </a:rPr>
              <a:t>Smart Contracts</a:t>
            </a:r>
          </a:p>
          <a:p>
            <a:pPr>
              <a:spcBef>
                <a:spcPts val="300"/>
              </a:spcBef>
            </a:pPr>
            <a:r>
              <a:rPr lang="pt-BR" sz="1400" dirty="0">
                <a:solidFill>
                  <a:srgbClr val="ADBDCC"/>
                </a:solidFill>
                <a:latin typeface="Segoe UI"/>
              </a:rPr>
              <a:t>Bugs no código: reentrancy, lógica e controle de acesso</a:t>
            </a:r>
          </a:p>
        </p:txBody>
      </p:sp>
      <p:sp>
        <p:nvSpPr>
          <p:cNvPr id="81" name="b1"/>
          <p:cNvSpPr/>
          <p:nvPr/>
        </p:nvSpPr>
        <p:spPr>
          <a:xfrm>
            <a:off x="508000" y="2603500"/>
            <a:ext cx="609600" cy="6096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 w="19050">
            <a:solidFill>
              <a:srgbClr val="22D3EE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000" b="1" dirty="0">
                <a:solidFill>
                  <a:srgbClr val="22D3EE"/>
                </a:solidFill>
                <a:latin typeface="Consolas"/>
              </a:rPr>
              <a:t>2</a:t>
            </a:r>
          </a:p>
        </p:txBody>
      </p:sp>
      <p:sp>
        <p:nvSpPr>
          <p:cNvPr id="91" name="t1"/>
          <p:cNvSpPr/>
          <p:nvPr/>
        </p:nvSpPr>
        <p:spPr>
          <a:xfrm>
            <a:off x="1320800" y="2540000"/>
            <a:ext cx="7112000" cy="736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pt-BR" sz="1800" b="1" dirty="0">
                <a:solidFill>
                  <a:schemeClr val="tx1"/>
                </a:solidFill>
                <a:latin typeface="Segoe UI"/>
              </a:rPr>
              <a:t>Ataques Econômicos</a:t>
            </a:r>
          </a:p>
          <a:p>
            <a:pPr>
              <a:spcBef>
                <a:spcPts val="300"/>
              </a:spcBef>
            </a:pPr>
            <a:r>
              <a:rPr lang="pt-BR" sz="1400" dirty="0">
                <a:solidFill>
                  <a:srgbClr val="ADBDCC"/>
                </a:solidFill>
                <a:latin typeface="Segoe UI"/>
              </a:rPr>
              <a:t>Manipulação de mercado: flash loans, oráculos e MEV</a:t>
            </a:r>
          </a:p>
        </p:txBody>
      </p:sp>
      <p:sp>
        <p:nvSpPr>
          <p:cNvPr id="82" name="b2"/>
          <p:cNvSpPr/>
          <p:nvPr/>
        </p:nvSpPr>
        <p:spPr>
          <a:xfrm>
            <a:off x="508000" y="3429000"/>
            <a:ext cx="609600" cy="6096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 w="19050">
            <a:solidFill>
              <a:srgbClr val="A78BFA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000" b="1" dirty="0">
                <a:solidFill>
                  <a:srgbClr val="A78BFA"/>
                </a:solidFill>
                <a:latin typeface="Consolas"/>
              </a:rPr>
              <a:t>3</a:t>
            </a:r>
          </a:p>
        </p:txBody>
      </p:sp>
      <p:sp>
        <p:nvSpPr>
          <p:cNvPr id="92" name="t2"/>
          <p:cNvSpPr/>
          <p:nvPr/>
        </p:nvSpPr>
        <p:spPr>
          <a:xfrm>
            <a:off x="1320800" y="3403600"/>
            <a:ext cx="7112000" cy="736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pt-BR" sz="1800" b="1" dirty="0">
                <a:solidFill>
                  <a:schemeClr val="tx1"/>
                </a:solidFill>
                <a:latin typeface="Segoe UI"/>
              </a:rPr>
              <a:t>Infraestrutura</a:t>
            </a:r>
          </a:p>
          <a:p>
            <a:pPr>
              <a:spcBef>
                <a:spcPts val="300"/>
              </a:spcBef>
            </a:pPr>
            <a:r>
              <a:rPr lang="pt-BR" sz="1400" dirty="0">
                <a:solidFill>
                  <a:srgbClr val="ADBDCC"/>
                </a:solidFill>
                <a:latin typeface="Segoe UI"/>
              </a:rPr>
              <a:t>Frontend, RPC, DNS e supply chain de desenvolvimento</a:t>
            </a:r>
          </a:p>
        </p:txBody>
      </p:sp>
      <p:sp>
        <p:nvSpPr>
          <p:cNvPr id="83" name="b3"/>
          <p:cNvSpPr/>
          <p:nvPr/>
        </p:nvSpPr>
        <p:spPr>
          <a:xfrm>
            <a:off x="508000" y="4330700"/>
            <a:ext cx="609600" cy="6096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 w="19050">
            <a:solidFill>
              <a:srgbClr val="FBBF24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000" b="1" dirty="0">
                <a:solidFill>
                  <a:srgbClr val="FBBF24"/>
                </a:solidFill>
                <a:latin typeface="Consolas"/>
              </a:rPr>
              <a:t>4</a:t>
            </a:r>
          </a:p>
        </p:txBody>
      </p:sp>
      <p:sp>
        <p:nvSpPr>
          <p:cNvPr id="93" name="t3"/>
          <p:cNvSpPr/>
          <p:nvPr/>
        </p:nvSpPr>
        <p:spPr>
          <a:xfrm>
            <a:off x="1320800" y="4267200"/>
            <a:ext cx="7112000" cy="736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pt-BR" sz="1800" b="1" dirty="0">
                <a:solidFill>
                  <a:schemeClr val="tx1"/>
                </a:solidFill>
                <a:latin typeface="Segoe UI"/>
              </a:rPr>
              <a:t>Gestão de Chaves</a:t>
            </a:r>
          </a:p>
          <a:p>
            <a:pPr>
              <a:spcBef>
                <a:spcPts val="300"/>
              </a:spcBef>
            </a:pPr>
            <a:r>
              <a:rPr lang="pt-BR" sz="1400" dirty="0">
                <a:solidFill>
                  <a:srgbClr val="ADBDCC"/>
                </a:solidFill>
                <a:latin typeface="Segoe UI"/>
              </a:rPr>
              <a:t>Multisig, hardware wallets, MPC e processos operacionais</a:t>
            </a:r>
          </a:p>
        </p:txBody>
      </p:sp>
      <p:sp>
        <p:nvSpPr>
          <p:cNvPr id="84" name="b4"/>
          <p:cNvSpPr/>
          <p:nvPr/>
        </p:nvSpPr>
        <p:spPr>
          <a:xfrm>
            <a:off x="508000" y="5194300"/>
            <a:ext cx="609600" cy="6096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 w="19050">
            <a:solidFill>
              <a:srgbClr val="F43F5E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000" b="1" dirty="0">
                <a:solidFill>
                  <a:srgbClr val="F43F5E"/>
                </a:solidFill>
                <a:latin typeface="Consolas"/>
              </a:rPr>
              <a:t>5</a:t>
            </a:r>
          </a:p>
        </p:txBody>
      </p:sp>
      <p:sp>
        <p:nvSpPr>
          <p:cNvPr id="94" name="t4"/>
          <p:cNvSpPr/>
          <p:nvPr/>
        </p:nvSpPr>
        <p:spPr>
          <a:xfrm>
            <a:off x="1320800" y="5130800"/>
            <a:ext cx="7112000" cy="736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pt-BR" sz="1800" b="1" dirty="0">
                <a:solidFill>
                  <a:schemeClr val="tx1"/>
                </a:solidFill>
                <a:latin typeface="Segoe UI"/>
              </a:rPr>
              <a:t>Cross-chain / Bridges</a:t>
            </a:r>
          </a:p>
          <a:p>
            <a:pPr>
              <a:spcBef>
                <a:spcPts val="300"/>
              </a:spcBef>
            </a:pPr>
            <a:r>
              <a:rPr lang="pt-BR" sz="1400" dirty="0">
                <a:solidFill>
                  <a:srgbClr val="ADBDCC"/>
                </a:solidFill>
                <a:latin typeface="Segoe UI"/>
              </a:rPr>
              <a:t>Confiança entre cadeias — o maior alvo da Web3</a:t>
            </a:r>
          </a:p>
        </p:txBody>
      </p:sp>
    </p:spTree>
    <p:extLst>
      <p:ext uri="{BB962C8B-B14F-4D97-AF65-F5344CB8AC3E}">
        <p14:creationId xmlns:p14="http://schemas.microsoft.com/office/powerpoint/2010/main" val="834139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3460" y="383372"/>
            <a:ext cx="6377940" cy="1293028"/>
          </a:xfrm>
        </p:spPr>
        <p:txBody>
          <a:bodyPr>
            <a:normAutofit/>
          </a:bodyPr>
          <a:lstStyle/>
          <a:p>
            <a:r>
              <a:rPr dirty="0"/>
              <a:t>Smart Contract Vulnerabilities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p0"/>
          <p:cNvSpPr/>
          <p:nvPr/>
        </p:nvSpPr>
        <p:spPr>
          <a:xfrm>
            <a:off x="457200" y="1676400"/>
            <a:ext cx="8229600" cy="762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s0"/>
          <p:cNvSpPr/>
          <p:nvPr/>
        </p:nvSpPr>
        <p:spPr>
          <a:xfrm>
            <a:off x="457200" y="1676400"/>
            <a:ext cx="76200" cy="762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" name="t0"/>
          <p:cNvSpPr/>
          <p:nvPr/>
        </p:nvSpPr>
        <p:spPr>
          <a:xfrm>
            <a:off x="762000" y="1676400"/>
            <a:ext cx="7670800" cy="762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00E676"/>
                </a:solidFill>
                <a:latin typeface="Consolas"/>
              </a:rPr>
              <a:t>Reentrancy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Estado atualizado após a chamada externa — o clássico do The DAO</a:t>
            </a:r>
          </a:p>
        </p:txBody>
      </p:sp>
      <p:sp>
        <p:nvSpPr>
          <p:cNvPr id="81" name="p1"/>
          <p:cNvSpPr/>
          <p:nvPr/>
        </p:nvSpPr>
        <p:spPr>
          <a:xfrm>
            <a:off x="457200" y="2565400"/>
            <a:ext cx="8229600" cy="762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1"/>
          <p:cNvSpPr/>
          <p:nvPr/>
        </p:nvSpPr>
        <p:spPr>
          <a:xfrm>
            <a:off x="457200" y="2565400"/>
            <a:ext cx="76200" cy="762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t1"/>
          <p:cNvSpPr/>
          <p:nvPr/>
        </p:nvSpPr>
        <p:spPr>
          <a:xfrm>
            <a:off x="762000" y="2565400"/>
            <a:ext cx="7670800" cy="762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22D3EE"/>
                </a:solidFill>
                <a:latin typeface="Consolas"/>
              </a:rPr>
              <a:t>Logic Bugs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Erros na lógica de negócio que escapam às auditorias</a:t>
            </a:r>
          </a:p>
        </p:txBody>
      </p:sp>
      <p:sp>
        <p:nvSpPr>
          <p:cNvPr id="82" name="p2"/>
          <p:cNvSpPr/>
          <p:nvPr/>
        </p:nvSpPr>
        <p:spPr>
          <a:xfrm>
            <a:off x="457200" y="3454400"/>
            <a:ext cx="8229600" cy="762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s2"/>
          <p:cNvSpPr/>
          <p:nvPr/>
        </p:nvSpPr>
        <p:spPr>
          <a:xfrm>
            <a:off x="457200" y="3454400"/>
            <a:ext cx="76200" cy="762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2"/>
          <p:cNvSpPr/>
          <p:nvPr/>
        </p:nvSpPr>
        <p:spPr>
          <a:xfrm>
            <a:off x="762000" y="3454400"/>
            <a:ext cx="7670800" cy="762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A78BFA"/>
                </a:solidFill>
                <a:latin typeface="Consolas"/>
              </a:rPr>
              <a:t>Access Control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Permissões e modificadores mal configurados</a:t>
            </a:r>
          </a:p>
        </p:txBody>
      </p:sp>
      <p:sp>
        <p:nvSpPr>
          <p:cNvPr id="83" name="p3"/>
          <p:cNvSpPr/>
          <p:nvPr/>
        </p:nvSpPr>
        <p:spPr>
          <a:xfrm>
            <a:off x="457200" y="4343400"/>
            <a:ext cx="8229600" cy="762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s3"/>
          <p:cNvSpPr/>
          <p:nvPr/>
        </p:nvSpPr>
        <p:spPr>
          <a:xfrm>
            <a:off x="457200" y="4343400"/>
            <a:ext cx="76200" cy="762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3"/>
          <p:cNvSpPr/>
          <p:nvPr/>
        </p:nvSpPr>
        <p:spPr>
          <a:xfrm>
            <a:off x="762000" y="4343400"/>
            <a:ext cx="7670800" cy="762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FBBF24"/>
                </a:solidFill>
                <a:latin typeface="Consolas"/>
              </a:rPr>
              <a:t>Upgradeability Bugs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Falhas em proxies e padrões de upgrade</a:t>
            </a:r>
          </a:p>
        </p:txBody>
      </p:sp>
      <p:sp>
        <p:nvSpPr>
          <p:cNvPr id="84" name="p4"/>
          <p:cNvSpPr/>
          <p:nvPr/>
        </p:nvSpPr>
        <p:spPr>
          <a:xfrm>
            <a:off x="457200" y="5232400"/>
            <a:ext cx="8229600" cy="762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" name="s4"/>
          <p:cNvSpPr/>
          <p:nvPr/>
        </p:nvSpPr>
        <p:spPr>
          <a:xfrm>
            <a:off x="457200" y="5232400"/>
            <a:ext cx="76200" cy="762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4"/>
          <p:cNvSpPr/>
          <p:nvPr/>
        </p:nvSpPr>
        <p:spPr>
          <a:xfrm>
            <a:off x="762000" y="5232400"/>
            <a:ext cx="7670800" cy="762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F43F5E"/>
                </a:solidFill>
                <a:latin typeface="Consolas"/>
              </a:rPr>
              <a:t>Storage Collisions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Conflito de slots entre proxy e implementação</a:t>
            </a:r>
          </a:p>
        </p:txBody>
      </p:sp>
    </p:spTree>
    <p:extLst>
      <p:ext uri="{BB962C8B-B14F-4D97-AF65-F5344CB8AC3E}">
        <p14:creationId xmlns:p14="http://schemas.microsoft.com/office/powerpoint/2010/main" val="276180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317332"/>
            <a:ext cx="6377940" cy="1293028"/>
          </a:xfrm>
        </p:spPr>
        <p:txBody>
          <a:bodyPr/>
          <a:lstStyle/>
          <a:p>
            <a:r>
              <a:rPr dirty="0"/>
              <a:t>Reentrancy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093" y="1686560"/>
            <a:ext cx="7955280" cy="4069080"/>
          </a:xfrm>
        </p:spPr>
        <p:txBody>
          <a:bodyPr/>
          <a:lstStyle/>
          <a:p>
            <a:pPr>
              <a:buNone/>
            </a:pPr>
            <a:r>
              <a:rPr lang="pt-BR" sz="1700" dirty="0">
                <a:solidFill>
                  <a:srgbClr val="ADBDCC"/>
                </a:solidFill>
                <a:latin typeface="Segoe UI"/>
              </a:rPr>
              <a:t>O estado é atualizado depois da chamada externa — abrindo a porta para a reentrância.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bx0"/>
          <p:cNvSpPr/>
          <p:nvPr/>
        </p:nvSpPr>
        <p:spPr>
          <a:xfrm>
            <a:off x="457200" y="2921000"/>
            <a:ext cx="1778000" cy="1320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875">
            <a:solidFill>
              <a:srgbClr val="22D3EE"/>
            </a:solidFill>
          </a:ln>
        </p:spPr>
        <p:txBody>
          <a:bodyPr lIns="72000" tIns="72000" rIns="72000" bIns="72000" anchor="ctr"/>
          <a:lstStyle/>
          <a:p>
            <a:pPr algn="ctr"/>
            <a:r>
              <a:rPr lang="en-US" sz="1700" b="1" dirty="0">
                <a:solidFill>
                  <a:schemeClr val="tx1"/>
                </a:solidFill>
                <a:latin typeface="Segoe UI"/>
              </a:rPr>
              <a:t>Atacante</a:t>
            </a:r>
          </a:p>
          <a:p>
            <a:pPr algn="ctr">
              <a:spcBef>
                <a:spcPts val="400"/>
              </a:spcBef>
            </a:pPr>
            <a:r>
              <a:rPr lang="en-US" sz="1300" dirty="0">
                <a:solidFill>
                  <a:srgbClr val="ADBDCC"/>
                </a:solidFill>
                <a:latin typeface="Consolas"/>
              </a:rPr>
              <a:t>chama withdraw()</a:t>
            </a:r>
          </a:p>
        </p:txBody>
      </p:sp>
      <p:sp>
        <p:nvSpPr>
          <p:cNvPr id="81" name="bx1"/>
          <p:cNvSpPr/>
          <p:nvPr/>
        </p:nvSpPr>
        <p:spPr>
          <a:xfrm>
            <a:off x="2607733" y="2921000"/>
            <a:ext cx="1778000" cy="1320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875">
            <a:solidFill>
              <a:srgbClr val="FBBF24"/>
            </a:solidFill>
          </a:ln>
        </p:spPr>
        <p:txBody>
          <a:bodyPr lIns="72000" tIns="72000" rIns="72000" bIns="72000" anchor="ctr"/>
          <a:lstStyle/>
          <a:p>
            <a:pPr algn="ctr"/>
            <a:r>
              <a:rPr lang="en-US" sz="1700" b="1" dirty="0">
                <a:solidFill>
                  <a:schemeClr val="tx1"/>
                </a:solidFill>
                <a:latin typeface="Segoe UI"/>
              </a:rPr>
              <a:t>Contrato</a:t>
            </a:r>
          </a:p>
          <a:p>
            <a:pPr algn="ctr">
              <a:spcBef>
                <a:spcPts val="400"/>
              </a:spcBef>
            </a:pPr>
            <a:r>
              <a:rPr lang="en-US" sz="1300" dirty="0">
                <a:solidFill>
                  <a:srgbClr val="ADBDCC"/>
                </a:solidFill>
                <a:latin typeface="Consolas"/>
              </a:rPr>
              <a:t>envia ETH (call externo)</a:t>
            </a:r>
          </a:p>
        </p:txBody>
      </p:sp>
      <p:sp>
        <p:nvSpPr>
          <p:cNvPr id="82" name="bx2"/>
          <p:cNvSpPr/>
          <p:nvPr/>
        </p:nvSpPr>
        <p:spPr>
          <a:xfrm>
            <a:off x="4758267" y="2921000"/>
            <a:ext cx="1778000" cy="1320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875">
            <a:solidFill>
              <a:srgbClr val="F43F5E"/>
            </a:solidFill>
          </a:ln>
        </p:spPr>
        <p:txBody>
          <a:bodyPr lIns="72000" tIns="72000" rIns="72000" bIns="72000" anchor="ctr"/>
          <a:lstStyle/>
          <a:p>
            <a:pPr algn="ctr"/>
            <a:r>
              <a:rPr lang="en-US" sz="1700" b="1" dirty="0">
                <a:solidFill>
                  <a:schemeClr val="tx1"/>
                </a:solidFill>
                <a:latin typeface="Segoe UI"/>
              </a:rPr>
              <a:t>Fallback</a:t>
            </a:r>
          </a:p>
          <a:p>
            <a:pPr algn="ctr">
              <a:spcBef>
                <a:spcPts val="400"/>
              </a:spcBef>
            </a:pPr>
            <a:r>
              <a:rPr lang="en-US" sz="1300" dirty="0">
                <a:solidFill>
                  <a:srgbClr val="ADBDCC"/>
                </a:solidFill>
                <a:latin typeface="Consolas"/>
              </a:rPr>
              <a:t>re-entra em withdraw()</a:t>
            </a:r>
          </a:p>
        </p:txBody>
      </p:sp>
      <p:sp>
        <p:nvSpPr>
          <p:cNvPr id="83" name="bx3"/>
          <p:cNvSpPr/>
          <p:nvPr/>
        </p:nvSpPr>
        <p:spPr>
          <a:xfrm>
            <a:off x="6908800" y="2921000"/>
            <a:ext cx="1778000" cy="1320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875">
            <a:solidFill>
              <a:srgbClr val="F43F5E"/>
            </a:solidFill>
          </a:ln>
        </p:spPr>
        <p:txBody>
          <a:bodyPr lIns="72000" tIns="72000" rIns="72000" bIns="72000" anchor="ctr"/>
          <a:lstStyle/>
          <a:p>
            <a:pPr algn="ctr"/>
            <a:r>
              <a:rPr lang="en-US" sz="1700" b="1" dirty="0">
                <a:solidFill>
                  <a:schemeClr val="tx1"/>
                </a:solidFill>
                <a:latin typeface="Segoe UI"/>
              </a:rPr>
              <a:t>Resultado</a:t>
            </a:r>
          </a:p>
          <a:p>
            <a:pPr algn="ctr">
              <a:spcBef>
                <a:spcPts val="400"/>
              </a:spcBef>
            </a:pPr>
            <a:r>
              <a:rPr lang="en-US" sz="1300" dirty="0">
                <a:solidFill>
                  <a:srgbClr val="ADBDCC"/>
                </a:solidFill>
                <a:latin typeface="Consolas"/>
              </a:rPr>
              <a:t>fundos drenados em loop</a:t>
            </a:r>
          </a:p>
        </p:txBody>
      </p:sp>
      <p:sp>
        <p:nvSpPr>
          <p:cNvPr id="120" name="ar0"/>
          <p:cNvSpPr/>
          <p:nvPr/>
        </p:nvSpPr>
        <p:spPr>
          <a:xfrm>
            <a:off x="2281767" y="3441700"/>
            <a:ext cx="279400" cy="27940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ar1"/>
          <p:cNvSpPr/>
          <p:nvPr/>
        </p:nvSpPr>
        <p:spPr>
          <a:xfrm>
            <a:off x="4432300" y="3441700"/>
            <a:ext cx="279400" cy="27940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ar2"/>
          <p:cNvSpPr/>
          <p:nvPr/>
        </p:nvSpPr>
        <p:spPr>
          <a:xfrm>
            <a:off x="6582833" y="3441700"/>
            <a:ext cx="279400" cy="27940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0" name="loop"/>
          <p:cNvSpPr/>
          <p:nvPr/>
        </p:nvSpPr>
        <p:spPr>
          <a:xfrm flipH="1">
            <a:off x="2734733" y="2336800"/>
            <a:ext cx="3674533" cy="508000"/>
          </a:xfrm>
          <a:prstGeom prst="curvedLeftArrow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1" name="looplbl"/>
          <p:cNvSpPr/>
          <p:nvPr/>
        </p:nvSpPr>
        <p:spPr>
          <a:xfrm>
            <a:off x="2734733" y="2006600"/>
            <a:ext cx="3674533" cy="304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pt-BR" sz="1300" b="1" dirty="0">
                <a:solidFill>
                  <a:srgbClr val="F43F5E"/>
                </a:solidFill>
                <a:latin typeface="Consolas"/>
              </a:rPr>
              <a:t>reentrância (loop)</a:t>
            </a:r>
          </a:p>
        </p:txBody>
      </p:sp>
      <p:sp>
        <p:nvSpPr>
          <p:cNvPr id="140" name="take"/>
          <p:cNvSpPr/>
          <p:nvPr/>
        </p:nvSpPr>
        <p:spPr>
          <a:xfrm>
            <a:off x="457200" y="4978400"/>
            <a:ext cx="8229600" cy="990600"/>
          </a:xfrm>
          <a:prstGeom prst="roundRect">
            <a:avLst>
              <a:gd name="adj" fmla="val 6000"/>
            </a:avLst>
          </a:prstGeom>
          <a:solidFill>
            <a:srgbClr val="0F2A1B"/>
          </a:solidFill>
          <a:ln w="12700">
            <a:solidFill>
              <a:srgbClr val="00E676"/>
            </a:solidFill>
          </a:ln>
        </p:spPr>
        <p:txBody>
          <a:bodyPr lIns="144000" tIns="72000" rIns="144000" bIns="72000" anchor="ctr"/>
          <a:lstStyle/>
          <a:p>
            <a:r>
              <a:rPr lang="pt-BR" sz="1500" b="1" dirty="0">
                <a:solidFill>
                  <a:srgbClr val="00E676"/>
                </a:solidFill>
                <a:latin typeface="Segoe UI"/>
              </a:rPr>
              <a:t>Mitigação: </a:t>
            </a:r>
            <a:r>
              <a:rPr lang="pt-BR" sz="1500" dirty="0">
                <a:solidFill>
                  <a:schemeClr val="tx1"/>
                </a:solidFill>
                <a:latin typeface="Segoe UI"/>
              </a:rPr>
              <a:t>padrão checks-effects-interactions e ReentrancyGuard.</a:t>
            </a:r>
          </a:p>
        </p:txBody>
      </p:sp>
    </p:spTree>
    <p:extLst>
      <p:ext uri="{BB962C8B-B14F-4D97-AF65-F5344CB8AC3E}">
        <p14:creationId xmlns:p14="http://schemas.microsoft.com/office/powerpoint/2010/main" val="1494574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860" y="648886"/>
            <a:ext cx="6377940" cy="1293028"/>
          </a:xfrm>
        </p:spPr>
        <p:txBody>
          <a:bodyPr/>
          <a:lstStyle/>
          <a:p>
            <a:r>
              <a:rPr dirty="0"/>
              <a:t>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560" y="1841500"/>
            <a:ext cx="7955280" cy="4069080"/>
          </a:xfrm>
        </p:spPr>
        <p:txBody>
          <a:bodyPr/>
          <a:lstStyle/>
          <a:p>
            <a:pPr>
              <a:buNone/>
            </a:pPr>
            <a:r>
              <a:rPr lang="pt-BR" sz="1700" dirty="0">
                <a:solidFill>
                  <a:srgbClr val="8B949E"/>
                </a:solidFill>
                <a:latin typeface="Segoe UI"/>
              </a:rPr>
              <a:t>Permissões mal configuradas seguem entre as principais causas de incidentes. Os padrões mais comuns: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c0"/>
          <p:cNvSpPr/>
          <p:nvPr/>
        </p:nvSpPr>
        <p:spPr>
          <a:xfrm>
            <a:off x="457200" y="2438400"/>
            <a:ext cx="3937000" cy="9144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txBody>
          <a:bodyPr lIns="108000" tIns="72000" rIns="108000" bIns="72000" anchor="ctr"/>
          <a:lstStyle/>
          <a:p>
            <a:r>
              <a:rPr lang="en-US" sz="1600" b="1" dirty="0">
                <a:solidFill>
                  <a:srgbClr val="22D3EE"/>
                </a:solidFill>
                <a:latin typeface="Consolas"/>
              </a:rPr>
              <a:t>sem onlyOwner</a:t>
            </a:r>
          </a:p>
          <a:p>
            <a:pPr>
              <a:spcBef>
                <a:spcPts val="3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Funções sensíveis sem restrição de acesso</a:t>
            </a:r>
          </a:p>
        </p:txBody>
      </p:sp>
      <p:sp>
        <p:nvSpPr>
          <p:cNvPr id="81" name="c1"/>
          <p:cNvSpPr/>
          <p:nvPr/>
        </p:nvSpPr>
        <p:spPr>
          <a:xfrm>
            <a:off x="4749800" y="2438400"/>
            <a:ext cx="3937000" cy="9144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</p:spPr>
        <p:txBody>
          <a:bodyPr lIns="108000" tIns="72000" rIns="108000" bIns="72000" anchor="ctr"/>
          <a:lstStyle/>
          <a:p>
            <a:r>
              <a:rPr lang="en-US" sz="1600" b="1" dirty="0">
                <a:solidFill>
                  <a:srgbClr val="A78BFA"/>
                </a:solidFill>
                <a:latin typeface="Consolas"/>
              </a:rPr>
              <a:t>initialize() exposto</a:t>
            </a:r>
          </a:p>
          <a:p>
            <a:pPr>
              <a:spcBef>
                <a:spcPts val="3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Reinicialização do proxy por terceiros</a:t>
            </a:r>
          </a:p>
        </p:txBody>
      </p:sp>
      <p:sp>
        <p:nvSpPr>
          <p:cNvPr id="82" name="c2"/>
          <p:cNvSpPr/>
          <p:nvPr/>
        </p:nvSpPr>
        <p:spPr>
          <a:xfrm>
            <a:off x="457200" y="3581400"/>
            <a:ext cx="3937000" cy="9144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FBBF24"/>
            </a:solidFill>
          </a:ln>
        </p:spPr>
        <p:txBody>
          <a:bodyPr lIns="108000" tIns="72000" rIns="108000" bIns="72000" anchor="ctr"/>
          <a:lstStyle/>
          <a:p>
            <a:r>
              <a:rPr lang="en-US" sz="1600" b="1" dirty="0">
                <a:solidFill>
                  <a:srgbClr val="FBBF24"/>
                </a:solidFill>
                <a:latin typeface="Consolas"/>
              </a:rPr>
              <a:t>tx.origin</a:t>
            </a:r>
          </a:p>
          <a:p>
            <a:pPr>
              <a:spcBef>
                <a:spcPts val="3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Autenticação enganável por contrato intermediário</a:t>
            </a:r>
          </a:p>
        </p:txBody>
      </p:sp>
      <p:sp>
        <p:nvSpPr>
          <p:cNvPr id="83" name="c3"/>
          <p:cNvSpPr/>
          <p:nvPr/>
        </p:nvSpPr>
        <p:spPr>
          <a:xfrm>
            <a:off x="4749800" y="3581400"/>
            <a:ext cx="3937000" cy="9144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F43F5E"/>
            </a:solidFill>
          </a:ln>
        </p:spPr>
        <p:txBody>
          <a:bodyPr lIns="108000" tIns="72000" rIns="108000" bIns="72000" anchor="ctr"/>
          <a:lstStyle/>
          <a:p>
            <a:r>
              <a:rPr lang="en-US" sz="1600" b="1" dirty="0">
                <a:solidFill>
                  <a:srgbClr val="F43F5E"/>
                </a:solidFill>
                <a:latin typeface="Consolas"/>
              </a:rPr>
              <a:t>admin centralizado</a:t>
            </a:r>
          </a:p>
          <a:p>
            <a:pPr>
              <a:spcBef>
                <a:spcPts val="3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Uma única chave controla todo o protocolo</a:t>
            </a:r>
          </a:p>
        </p:txBody>
      </p:sp>
      <p:sp>
        <p:nvSpPr>
          <p:cNvPr id="140" name="case"/>
          <p:cNvSpPr/>
          <p:nvPr/>
        </p:nvSpPr>
        <p:spPr>
          <a:xfrm>
            <a:off x="457200" y="5003800"/>
            <a:ext cx="8229600" cy="1041400"/>
          </a:xfrm>
          <a:prstGeom prst="roundRect">
            <a:avLst>
              <a:gd name="adj" fmla="val 6000"/>
            </a:avLst>
          </a:prstGeom>
          <a:solidFill>
            <a:srgbClr val="2B1216"/>
          </a:solidFill>
          <a:ln w="12700">
            <a:solidFill>
              <a:srgbClr val="F43F5E"/>
            </a:solidFill>
          </a:ln>
        </p:spPr>
        <p:txBody>
          <a:bodyPr lIns="144000" tIns="72000" rIns="144000" bIns="72000" anchor="ctr"/>
          <a:lstStyle/>
          <a:p>
            <a:r>
              <a:rPr lang="pt-BR" sz="1500" b="1" dirty="0">
                <a:solidFill>
                  <a:srgbClr val="F43F5E"/>
                </a:solidFill>
                <a:latin typeface="Segoe UI"/>
              </a:rPr>
              <a:t>Caso Parity (2017): </a:t>
            </a:r>
            <a:r>
              <a:rPr lang="pt-BR" sz="1500" dirty="0">
                <a:solidFill>
                  <a:schemeClr val="tx1"/>
                </a:solidFill>
                <a:latin typeface="Segoe UI"/>
              </a:rPr>
              <a:t>uma função de inicialização desprotegida congelou ~$280M em ETH permanentemente.</a:t>
            </a:r>
          </a:p>
        </p:txBody>
      </p:sp>
      <p:sp>
        <p:nvSpPr>
          <p:cNvPr id="200" name="src"/>
          <p:cNvSpPr/>
          <p:nvPr/>
        </p:nvSpPr>
        <p:spPr>
          <a:xfrm>
            <a:off x="457200" y="6146800"/>
            <a:ext cx="8229600" cy="254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pt-BR" sz="1100" i="1" dirty="0">
                <a:solidFill>
                  <a:srgbClr val="8B949E"/>
                </a:solidFill>
                <a:latin typeface="Segoe UI"/>
              </a:rPr>
              <a:t>Fonte: bug Parity multisig, nov. 2017 — ~514k ETH (~$280M na época) congelados.</a:t>
            </a:r>
          </a:p>
        </p:txBody>
      </p:sp>
    </p:spTree>
    <p:extLst>
      <p:ext uri="{BB962C8B-B14F-4D97-AF65-F5344CB8AC3E}">
        <p14:creationId xmlns:p14="http://schemas.microsoft.com/office/powerpoint/2010/main" val="1169777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956816"/>
            <a:ext cx="7955280" cy="4069080"/>
          </a:xfrm>
        </p:spPr>
        <p:txBody>
          <a:bodyPr/>
          <a:lstStyle/>
          <a:p>
            <a:pPr>
              <a:buNone/>
            </a:pPr>
            <a:r>
              <a:rPr lang="pt-BR" sz="1700" dirty="0">
                <a:solidFill>
                  <a:srgbClr val="8B949E"/>
                </a:solidFill>
                <a:latin typeface="Segoe UI"/>
              </a:rPr>
              <a:t>O proxy guarda o estado e delega a lógica via </a:t>
            </a:r>
            <a:r>
              <a:rPr lang="en-US" sz="1700" b="1" dirty="0">
                <a:solidFill>
                  <a:srgbClr val="00E676"/>
                </a:solidFill>
                <a:latin typeface="Consolas"/>
              </a:rPr>
              <a:t>delegatecall</a:t>
            </a:r>
            <a:r>
              <a:rPr lang="pt-BR" sz="1700" dirty="0">
                <a:solidFill>
                  <a:srgbClr val="8B949E"/>
                </a:solidFill>
                <a:latin typeface="Segoe UI"/>
              </a:rPr>
              <a:t> — poderoso e perigoso.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bx0"/>
          <p:cNvSpPr/>
          <p:nvPr/>
        </p:nvSpPr>
        <p:spPr>
          <a:xfrm>
            <a:off x="457200" y="29845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875">
            <a:solidFill>
              <a:srgbClr val="22D3EE"/>
            </a:solidFill>
          </a:ln>
        </p:spPr>
        <p:txBody>
          <a:bodyPr lIns="72000" tIns="72000" rIns="72000" bIns="72000" anchor="ctr"/>
          <a:lstStyle/>
          <a:p>
            <a:pPr algn="ctr"/>
            <a:r>
              <a:rPr lang="en-US" sz="1700" b="1" dirty="0">
                <a:solidFill>
                  <a:schemeClr val="tx1"/>
                </a:solidFill>
                <a:latin typeface="Segoe UI"/>
              </a:rPr>
              <a:t>Usuário</a:t>
            </a:r>
          </a:p>
          <a:p>
            <a:pPr algn="ctr">
              <a:spcBef>
                <a:spcPts val="400"/>
              </a:spcBef>
            </a:pPr>
            <a:r>
              <a:rPr lang="en-US" sz="1300" dirty="0">
                <a:solidFill>
                  <a:srgbClr val="8B949E"/>
                </a:solidFill>
                <a:latin typeface="Consolas"/>
              </a:rPr>
              <a:t>chama a função</a:t>
            </a:r>
          </a:p>
        </p:txBody>
      </p:sp>
      <p:sp>
        <p:nvSpPr>
          <p:cNvPr id="81" name="bx1"/>
          <p:cNvSpPr/>
          <p:nvPr/>
        </p:nvSpPr>
        <p:spPr>
          <a:xfrm>
            <a:off x="3429000" y="29845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875">
            <a:solidFill>
              <a:srgbClr val="FBBF24"/>
            </a:solidFill>
          </a:ln>
        </p:spPr>
        <p:txBody>
          <a:bodyPr lIns="72000" tIns="72000" rIns="72000" bIns="72000" anchor="ctr"/>
          <a:lstStyle/>
          <a:p>
            <a:pPr algn="ctr"/>
            <a:r>
              <a:rPr lang="en-US" sz="1700" b="1" dirty="0">
                <a:solidFill>
                  <a:schemeClr val="tx1"/>
                </a:solidFill>
                <a:latin typeface="Segoe UI"/>
              </a:rPr>
              <a:t>Proxy</a:t>
            </a:r>
          </a:p>
          <a:p>
            <a:pPr algn="ctr">
              <a:spcBef>
                <a:spcPts val="400"/>
              </a:spcBef>
            </a:pPr>
            <a:r>
              <a:rPr lang="en-US" sz="1300" dirty="0">
                <a:solidFill>
                  <a:srgbClr val="8B949E"/>
                </a:solidFill>
                <a:latin typeface="Consolas"/>
              </a:rPr>
              <a:t>guarda o estado · storage</a:t>
            </a:r>
          </a:p>
        </p:txBody>
      </p:sp>
      <p:sp>
        <p:nvSpPr>
          <p:cNvPr id="82" name="bx2"/>
          <p:cNvSpPr/>
          <p:nvPr/>
        </p:nvSpPr>
        <p:spPr>
          <a:xfrm>
            <a:off x="6400800" y="29845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875">
            <a:solidFill>
              <a:srgbClr val="A78BFA"/>
            </a:solidFill>
          </a:ln>
        </p:spPr>
        <p:txBody>
          <a:bodyPr lIns="72000" tIns="72000" rIns="72000" bIns="72000" anchor="ctr"/>
          <a:lstStyle/>
          <a:p>
            <a:pPr algn="ctr"/>
            <a:r>
              <a:rPr lang="en-US" sz="1700" b="1" dirty="0">
                <a:solidFill>
                  <a:schemeClr val="tx1"/>
                </a:solidFill>
                <a:latin typeface="Segoe UI"/>
              </a:rPr>
              <a:t>Implementation</a:t>
            </a:r>
          </a:p>
          <a:p>
            <a:pPr algn="ctr">
              <a:spcBef>
                <a:spcPts val="400"/>
              </a:spcBef>
            </a:pPr>
            <a:r>
              <a:rPr lang="en-US" sz="1300" dirty="0">
                <a:solidFill>
                  <a:srgbClr val="8B949E"/>
                </a:solidFill>
                <a:latin typeface="Consolas"/>
              </a:rPr>
              <a:t>contém a lógica · upgradável</a:t>
            </a:r>
          </a:p>
        </p:txBody>
      </p:sp>
      <p:sp>
        <p:nvSpPr>
          <p:cNvPr id="120" name="ar0"/>
          <p:cNvSpPr/>
          <p:nvPr/>
        </p:nvSpPr>
        <p:spPr>
          <a:xfrm>
            <a:off x="2794000" y="3505200"/>
            <a:ext cx="584200" cy="2286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5" name="al0"/>
          <p:cNvSpPr/>
          <p:nvPr/>
        </p:nvSpPr>
        <p:spPr>
          <a:xfrm>
            <a:off x="2651252" y="3155950"/>
            <a:ext cx="787400" cy="254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22D3EE"/>
                </a:solidFill>
                <a:latin typeface="Consolas"/>
              </a:rPr>
              <a:t>call</a:t>
            </a:r>
          </a:p>
        </p:txBody>
      </p:sp>
      <p:sp>
        <p:nvSpPr>
          <p:cNvPr id="121" name="ar1"/>
          <p:cNvSpPr/>
          <p:nvPr/>
        </p:nvSpPr>
        <p:spPr>
          <a:xfrm>
            <a:off x="5765800" y="3505200"/>
            <a:ext cx="584200" cy="2286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al1"/>
          <p:cNvSpPr/>
          <p:nvPr/>
        </p:nvSpPr>
        <p:spPr>
          <a:xfrm>
            <a:off x="5676900" y="2901950"/>
            <a:ext cx="787400" cy="254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00E676"/>
                </a:solidFill>
                <a:latin typeface="Consolas"/>
              </a:rPr>
              <a:t>delegatecall</a:t>
            </a:r>
          </a:p>
        </p:txBody>
      </p:sp>
      <p:sp>
        <p:nvSpPr>
          <p:cNvPr id="140" name="rk0"/>
          <p:cNvSpPr/>
          <p:nvPr/>
        </p:nvSpPr>
        <p:spPr>
          <a:xfrm>
            <a:off x="457200" y="4953000"/>
            <a:ext cx="2616200" cy="990600"/>
          </a:xfrm>
          <a:prstGeom prst="roundRect">
            <a:avLst>
              <a:gd name="adj" fmla="val 8000"/>
            </a:avLst>
          </a:prstGeom>
          <a:solidFill>
            <a:srgbClr val="2B1216"/>
          </a:solidFill>
          <a:ln w="12700">
            <a:solidFill>
              <a:srgbClr val="F43F5E"/>
            </a:solidFill>
          </a:ln>
        </p:spPr>
        <p:txBody>
          <a:bodyPr lIns="90000" tIns="60000" rIns="90000" bIns="60000" anchor="ctr"/>
          <a:lstStyle/>
          <a:p>
            <a:pPr algn="ctr"/>
            <a:r>
              <a:rPr lang="pt-BR" sz="1500" b="1" dirty="0">
                <a:solidFill>
                  <a:srgbClr val="F43F5E"/>
                </a:solidFill>
                <a:latin typeface="Segoe UI"/>
              </a:rPr>
              <a:t>Takeover</a:t>
            </a:r>
          </a:p>
          <a:p>
            <a:pPr algn="ctr">
              <a:spcBef>
                <a:spcPts val="200"/>
              </a:spcBef>
            </a:pPr>
            <a:r>
              <a:rPr lang="pt-BR" sz="1300" dirty="0">
                <a:solidFill>
                  <a:srgbClr val="C9D1D9"/>
                </a:solidFill>
                <a:latin typeface="Segoe UI"/>
              </a:rPr>
              <a:t>upgrade não autorizado</a:t>
            </a:r>
          </a:p>
        </p:txBody>
      </p:sp>
      <p:sp>
        <p:nvSpPr>
          <p:cNvPr id="141" name="rk1"/>
          <p:cNvSpPr/>
          <p:nvPr/>
        </p:nvSpPr>
        <p:spPr>
          <a:xfrm>
            <a:off x="3263900" y="4953000"/>
            <a:ext cx="2616200" cy="990600"/>
          </a:xfrm>
          <a:prstGeom prst="roundRect">
            <a:avLst>
              <a:gd name="adj" fmla="val 8000"/>
            </a:avLst>
          </a:prstGeom>
          <a:solidFill>
            <a:srgbClr val="2B1216"/>
          </a:solidFill>
          <a:ln w="12700">
            <a:solidFill>
              <a:srgbClr val="F43F5E"/>
            </a:solidFill>
          </a:ln>
        </p:spPr>
        <p:txBody>
          <a:bodyPr lIns="90000" tIns="60000" rIns="90000" bIns="60000" anchor="ctr"/>
          <a:lstStyle/>
          <a:p>
            <a:pPr algn="ctr"/>
            <a:r>
              <a:rPr lang="pt-BR" sz="1500" b="1" dirty="0">
                <a:solidFill>
                  <a:srgbClr val="F43F5E"/>
                </a:solidFill>
                <a:latin typeface="Segoe UI"/>
              </a:rPr>
              <a:t>Storage Collision</a:t>
            </a:r>
          </a:p>
          <a:p>
            <a:pPr algn="ctr">
              <a:spcBef>
                <a:spcPts val="200"/>
              </a:spcBef>
            </a:pPr>
            <a:r>
              <a:rPr lang="pt-BR" sz="1300" dirty="0">
                <a:solidFill>
                  <a:srgbClr val="C9D1D9"/>
                </a:solidFill>
                <a:latin typeface="Segoe UI"/>
              </a:rPr>
              <a:t>slots sobrepostos</a:t>
            </a:r>
          </a:p>
        </p:txBody>
      </p:sp>
      <p:sp>
        <p:nvSpPr>
          <p:cNvPr id="142" name="rk2"/>
          <p:cNvSpPr/>
          <p:nvPr/>
        </p:nvSpPr>
        <p:spPr>
          <a:xfrm>
            <a:off x="6070600" y="4953000"/>
            <a:ext cx="2616200" cy="990600"/>
          </a:xfrm>
          <a:prstGeom prst="roundRect">
            <a:avLst>
              <a:gd name="adj" fmla="val 8000"/>
            </a:avLst>
          </a:prstGeom>
          <a:solidFill>
            <a:srgbClr val="2B1216"/>
          </a:solidFill>
          <a:ln w="12700">
            <a:solidFill>
              <a:srgbClr val="F43F5E"/>
            </a:solidFill>
          </a:ln>
        </p:spPr>
        <p:txBody>
          <a:bodyPr lIns="90000" tIns="60000" rIns="90000" bIns="60000" anchor="ctr"/>
          <a:lstStyle/>
          <a:p>
            <a:pPr algn="ctr"/>
            <a:r>
              <a:rPr lang="pt-BR" sz="1500" b="1" dirty="0">
                <a:solidFill>
                  <a:srgbClr val="F43F5E"/>
                </a:solidFill>
                <a:latin typeface="Segoe UI"/>
              </a:rPr>
              <a:t>Upgrade malicioso</a:t>
            </a:r>
          </a:p>
          <a:p>
            <a:pPr algn="ctr">
              <a:spcBef>
                <a:spcPts val="200"/>
              </a:spcBef>
            </a:pPr>
            <a:r>
              <a:rPr lang="pt-BR" sz="1300" dirty="0">
                <a:solidFill>
                  <a:srgbClr val="C9D1D9"/>
                </a:solidFill>
                <a:latin typeface="Segoe UI"/>
              </a:rPr>
              <a:t>lógica trocada por backdoor</a:t>
            </a:r>
          </a:p>
        </p:txBody>
      </p:sp>
    </p:spTree>
    <p:extLst>
      <p:ext uri="{BB962C8B-B14F-4D97-AF65-F5344CB8AC3E}">
        <p14:creationId xmlns:p14="http://schemas.microsoft.com/office/powerpoint/2010/main" val="693741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7460" y="648886"/>
            <a:ext cx="6377940" cy="1293028"/>
          </a:xfrm>
        </p:spPr>
        <p:txBody>
          <a:bodyPr/>
          <a:lstStyle/>
          <a:p>
            <a:r>
              <a:rPr dirty="0" err="1"/>
              <a:t>Ataques</a:t>
            </a:r>
            <a:r>
              <a:rPr dirty="0"/>
              <a:t> </a:t>
            </a:r>
            <a:r>
              <a:rPr dirty="0" err="1"/>
              <a:t>Econômicos</a:t>
            </a:r>
            <a:endParaRPr dirty="0"/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p0"/>
          <p:cNvSpPr/>
          <p:nvPr/>
        </p:nvSpPr>
        <p:spPr>
          <a:xfrm>
            <a:off x="457200" y="1778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s0"/>
          <p:cNvSpPr/>
          <p:nvPr/>
        </p:nvSpPr>
        <p:spPr>
          <a:xfrm>
            <a:off x="457200" y="1778000"/>
            <a:ext cx="76200" cy="914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" name="t0"/>
          <p:cNvSpPr/>
          <p:nvPr/>
        </p:nvSpPr>
        <p:spPr>
          <a:xfrm>
            <a:off x="762000" y="1778000"/>
            <a:ext cx="7670800" cy="914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00E676"/>
                </a:solidFill>
                <a:latin typeface="Consolas"/>
              </a:rPr>
              <a:t>Flash Loans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Empréstimo sem colateral, liquidado na mesma transação</a:t>
            </a:r>
          </a:p>
        </p:txBody>
      </p:sp>
      <p:sp>
        <p:nvSpPr>
          <p:cNvPr id="81" name="p1"/>
          <p:cNvSpPr/>
          <p:nvPr/>
        </p:nvSpPr>
        <p:spPr>
          <a:xfrm>
            <a:off x="457200" y="28702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1"/>
          <p:cNvSpPr/>
          <p:nvPr/>
        </p:nvSpPr>
        <p:spPr>
          <a:xfrm>
            <a:off x="457200" y="2870200"/>
            <a:ext cx="76200" cy="914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t1"/>
          <p:cNvSpPr/>
          <p:nvPr/>
        </p:nvSpPr>
        <p:spPr>
          <a:xfrm>
            <a:off x="762000" y="2870200"/>
            <a:ext cx="7670800" cy="914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22D3EE"/>
                </a:solidFill>
                <a:latin typeface="Consolas"/>
              </a:rPr>
              <a:t>Oracle Manipulation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Distorção dos preços de referência do protocolo</a:t>
            </a:r>
          </a:p>
        </p:txBody>
      </p:sp>
      <p:sp>
        <p:nvSpPr>
          <p:cNvPr id="82" name="p2"/>
          <p:cNvSpPr/>
          <p:nvPr/>
        </p:nvSpPr>
        <p:spPr>
          <a:xfrm>
            <a:off x="457200" y="3962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s2"/>
          <p:cNvSpPr/>
          <p:nvPr/>
        </p:nvSpPr>
        <p:spPr>
          <a:xfrm>
            <a:off x="457200" y="3962400"/>
            <a:ext cx="76200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2"/>
          <p:cNvSpPr/>
          <p:nvPr/>
        </p:nvSpPr>
        <p:spPr>
          <a:xfrm>
            <a:off x="762000" y="3962400"/>
            <a:ext cx="7670800" cy="914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A78BFA"/>
                </a:solidFill>
                <a:latin typeface="Consolas"/>
              </a:rPr>
              <a:t>MEV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Reordenação de transações para extrair valor</a:t>
            </a:r>
          </a:p>
        </p:txBody>
      </p:sp>
      <p:sp>
        <p:nvSpPr>
          <p:cNvPr id="83" name="p3"/>
          <p:cNvSpPr/>
          <p:nvPr/>
        </p:nvSpPr>
        <p:spPr>
          <a:xfrm>
            <a:off x="457200" y="5054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s3"/>
          <p:cNvSpPr/>
          <p:nvPr/>
        </p:nvSpPr>
        <p:spPr>
          <a:xfrm>
            <a:off x="457200" y="5054600"/>
            <a:ext cx="76200" cy="914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3"/>
          <p:cNvSpPr/>
          <p:nvPr/>
        </p:nvSpPr>
        <p:spPr>
          <a:xfrm>
            <a:off x="762000" y="5054600"/>
            <a:ext cx="7670800" cy="914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F43F5E"/>
                </a:solidFill>
                <a:latin typeface="Consolas"/>
              </a:rPr>
              <a:t>Liquidity Attacks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Drenagem e manipulação de pools de liquidez</a:t>
            </a:r>
          </a:p>
        </p:txBody>
      </p:sp>
    </p:spTree>
    <p:extLst>
      <p:ext uri="{BB962C8B-B14F-4D97-AF65-F5344CB8AC3E}">
        <p14:creationId xmlns:p14="http://schemas.microsoft.com/office/powerpoint/2010/main" val="23991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Caso Mango Markets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stat"/>
          <p:cNvSpPr/>
          <p:nvPr/>
        </p:nvSpPr>
        <p:spPr>
          <a:xfrm>
            <a:off x="457200" y="1778000"/>
            <a:ext cx="3048000" cy="3327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5875">
            <a:solidFill>
              <a:srgbClr val="00E676"/>
            </a:solidFill>
          </a:ln>
        </p:spPr>
        <p:txBody>
          <a:bodyPr lIns="144000" tIns="144000" rIns="144000" bIns="144000" anchor="ctr"/>
          <a:lstStyle/>
          <a:p>
            <a:pPr algn="ctr"/>
            <a:r>
              <a:rPr lang="en-US" sz="5400" b="1" dirty="0">
                <a:solidFill>
                  <a:srgbClr val="00E676"/>
                </a:solidFill>
                <a:latin typeface="Consolas"/>
              </a:rPr>
              <a:t>$114M</a:t>
            </a:r>
          </a:p>
          <a:p>
            <a:pPr algn="ctr">
              <a:spcBef>
                <a:spcPts val="400"/>
              </a:spcBef>
            </a:pPr>
            <a:r>
              <a:rPr lang="pt-BR" sz="1500" dirty="0">
                <a:solidFill>
                  <a:schemeClr val="tx1"/>
                </a:solidFill>
                <a:latin typeface="Segoe UI"/>
              </a:rPr>
              <a:t>drenados do protocolo</a:t>
            </a:r>
          </a:p>
          <a:p>
            <a:pPr algn="ctr">
              <a:spcBef>
                <a:spcPts val="900"/>
              </a:spcBef>
            </a:pPr>
            <a:r>
              <a:rPr lang="en-US" sz="1400" b="1" dirty="0">
                <a:solidFill>
                  <a:srgbClr val="22D3EE"/>
                </a:solidFill>
                <a:latin typeface="Consolas"/>
              </a:rPr>
              <a:t>Out 2022 · Solana</a:t>
            </a:r>
          </a:p>
        </p:txBody>
      </p:sp>
      <p:sp>
        <p:nvSpPr>
          <p:cNvPr id="80" name="st0"/>
          <p:cNvSpPr/>
          <p:nvPr/>
        </p:nvSpPr>
        <p:spPr>
          <a:xfrm>
            <a:off x="3810000" y="1778000"/>
            <a:ext cx="4876800" cy="7366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>
            <a:noFill/>
          </a:ln>
        </p:spPr>
        <p:txBody>
          <a:bodyPr lIns="630000" tIns="36000" rIns="108000" bIns="36000" anchor="ctr"/>
          <a:lstStyle/>
          <a:p>
            <a:r>
              <a:rPr lang="pt-BR" sz="1500" dirty="0">
                <a:solidFill>
                  <a:schemeClr val="tx1"/>
                </a:solidFill>
                <a:latin typeface="Segoe UI"/>
              </a:rPr>
              <a:t>Abre posição enorme em perpétuos de MNGO</a:t>
            </a:r>
          </a:p>
        </p:txBody>
      </p:sp>
      <p:sp>
        <p:nvSpPr>
          <p:cNvPr id="90" name="sn0"/>
          <p:cNvSpPr/>
          <p:nvPr/>
        </p:nvSpPr>
        <p:spPr>
          <a:xfrm>
            <a:off x="3987800" y="1930400"/>
            <a:ext cx="431800" cy="4318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500" b="1" dirty="0">
                <a:solidFill>
                  <a:srgbClr val="0A0E14"/>
                </a:solidFill>
                <a:latin typeface="Consolas"/>
              </a:rPr>
              <a:t>1</a:t>
            </a:r>
          </a:p>
        </p:txBody>
      </p:sp>
      <p:sp>
        <p:nvSpPr>
          <p:cNvPr id="81" name="st1"/>
          <p:cNvSpPr/>
          <p:nvPr/>
        </p:nvSpPr>
        <p:spPr>
          <a:xfrm>
            <a:off x="3810000" y="2616200"/>
            <a:ext cx="4876800" cy="7366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>
            <a:noFill/>
          </a:ln>
        </p:spPr>
        <p:txBody>
          <a:bodyPr lIns="630000" tIns="36000" rIns="108000" bIns="36000" anchor="ctr"/>
          <a:lstStyle/>
          <a:p>
            <a:r>
              <a:rPr lang="pt-BR" sz="1500" dirty="0">
                <a:solidFill>
                  <a:schemeClr val="tx1"/>
                </a:solidFill>
                <a:latin typeface="Segoe UI"/>
              </a:rPr>
              <a:t>Manipula o preço spot do MNGO (baixa liquidez)</a:t>
            </a:r>
          </a:p>
        </p:txBody>
      </p:sp>
      <p:sp>
        <p:nvSpPr>
          <p:cNvPr id="91" name="sn1"/>
          <p:cNvSpPr/>
          <p:nvPr/>
        </p:nvSpPr>
        <p:spPr>
          <a:xfrm>
            <a:off x="3987800" y="2768600"/>
            <a:ext cx="431800" cy="4318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500" b="1" dirty="0">
                <a:solidFill>
                  <a:srgbClr val="0A0E14"/>
                </a:solidFill>
                <a:latin typeface="Consolas"/>
              </a:rPr>
              <a:t>2</a:t>
            </a:r>
          </a:p>
        </p:txBody>
      </p:sp>
      <p:sp>
        <p:nvSpPr>
          <p:cNvPr id="82" name="st2"/>
          <p:cNvSpPr/>
          <p:nvPr/>
        </p:nvSpPr>
        <p:spPr>
          <a:xfrm>
            <a:off x="3810000" y="3454400"/>
            <a:ext cx="4876800" cy="7366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>
            <a:noFill/>
          </a:ln>
        </p:spPr>
        <p:txBody>
          <a:bodyPr lIns="630000" tIns="36000" rIns="108000" bIns="36000" anchor="ctr"/>
          <a:lstStyle/>
          <a:p>
            <a:r>
              <a:rPr lang="pt-BR" sz="1500" dirty="0">
                <a:solidFill>
                  <a:schemeClr val="tx1"/>
                </a:solidFill>
                <a:latin typeface="Segoe UI"/>
              </a:rPr>
              <a:t>O oráculo reporta colateral inflado</a:t>
            </a:r>
          </a:p>
        </p:txBody>
      </p:sp>
      <p:sp>
        <p:nvSpPr>
          <p:cNvPr id="92" name="sn2"/>
          <p:cNvSpPr/>
          <p:nvPr/>
        </p:nvSpPr>
        <p:spPr>
          <a:xfrm>
            <a:off x="3987800" y="3606800"/>
            <a:ext cx="431800" cy="4318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500" b="1" dirty="0">
                <a:solidFill>
                  <a:srgbClr val="0A0E14"/>
                </a:solidFill>
                <a:latin typeface="Consolas"/>
              </a:rPr>
              <a:t>3</a:t>
            </a:r>
          </a:p>
        </p:txBody>
      </p:sp>
      <p:sp>
        <p:nvSpPr>
          <p:cNvPr id="83" name="st3"/>
          <p:cNvSpPr/>
          <p:nvPr/>
        </p:nvSpPr>
        <p:spPr>
          <a:xfrm>
            <a:off x="3810000" y="4292600"/>
            <a:ext cx="4876800" cy="7366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>
            <a:noFill/>
          </a:ln>
        </p:spPr>
        <p:txBody>
          <a:bodyPr lIns="630000" tIns="36000" rIns="108000" bIns="36000" anchor="ctr"/>
          <a:lstStyle/>
          <a:p>
            <a:r>
              <a:rPr lang="pt-BR" sz="1500" dirty="0">
                <a:solidFill>
                  <a:schemeClr val="tx1"/>
                </a:solidFill>
                <a:latin typeface="Segoe UI"/>
              </a:rPr>
              <a:t>Toma empréstimo contra o colateral falso e drena o tesouro</a:t>
            </a:r>
          </a:p>
        </p:txBody>
      </p:sp>
      <p:sp>
        <p:nvSpPr>
          <p:cNvPr id="93" name="sn3"/>
          <p:cNvSpPr/>
          <p:nvPr/>
        </p:nvSpPr>
        <p:spPr>
          <a:xfrm>
            <a:off x="3987800" y="4445000"/>
            <a:ext cx="431800" cy="4318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500" b="1" dirty="0">
                <a:solidFill>
                  <a:srgbClr val="0A0E14"/>
                </a:solidFill>
                <a:latin typeface="Consolas"/>
              </a:rPr>
              <a:t>4</a:t>
            </a:r>
          </a:p>
        </p:txBody>
      </p:sp>
      <p:sp>
        <p:nvSpPr>
          <p:cNvPr id="140" name="ins"/>
          <p:cNvSpPr/>
          <p:nvPr/>
        </p:nvSpPr>
        <p:spPr>
          <a:xfrm>
            <a:off x="457200" y="5257800"/>
            <a:ext cx="8229600" cy="787400"/>
          </a:xfrm>
          <a:prstGeom prst="roundRect">
            <a:avLst>
              <a:gd name="adj" fmla="val 8000"/>
            </a:avLst>
          </a:prstGeom>
          <a:solidFill>
            <a:srgbClr val="0F2A1B"/>
          </a:solidFill>
          <a:ln w="12700">
            <a:solidFill>
              <a:srgbClr val="00E676"/>
            </a:solidFill>
          </a:ln>
        </p:spPr>
        <p:txBody>
          <a:bodyPr lIns="144000" tIns="48000" rIns="144000" bIns="48000" anchor="ctr"/>
          <a:lstStyle/>
          <a:p>
            <a:r>
              <a:rPr lang="pt-BR" sz="1500" b="1" dirty="0">
                <a:solidFill>
                  <a:srgbClr val="00E676"/>
                </a:solidFill>
                <a:latin typeface="Segoe UI"/>
              </a:rPr>
              <a:t>Sem bug de código: </a:t>
            </a:r>
            <a:r>
              <a:rPr lang="pt-BR" sz="1500" dirty="0">
                <a:solidFill>
                  <a:schemeClr val="tx1"/>
                </a:solidFill>
                <a:latin typeface="Segoe UI"/>
              </a:rPr>
              <a:t>foi manipulação econômica via oráculo.</a:t>
            </a:r>
          </a:p>
        </p:txBody>
      </p:sp>
      <p:sp>
        <p:nvSpPr>
          <p:cNvPr id="200" name="src"/>
          <p:cNvSpPr/>
          <p:nvPr/>
        </p:nvSpPr>
        <p:spPr>
          <a:xfrm>
            <a:off x="457200" y="6146800"/>
            <a:ext cx="8229600" cy="254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pt-BR" sz="1100" i="1" dirty="0">
                <a:solidFill>
                  <a:srgbClr val="8B949E"/>
                </a:solidFill>
                <a:latin typeface="Segoe UI"/>
              </a:rPr>
              <a:t>Fonte: CoinDesk e processo da CFTC/DOJ (out. 2022). ~$114M drenados.</a:t>
            </a:r>
          </a:p>
        </p:txBody>
      </p:sp>
    </p:spTree>
    <p:extLst>
      <p:ext uri="{BB962C8B-B14F-4D97-AF65-F5344CB8AC3E}">
        <p14:creationId xmlns:p14="http://schemas.microsoft.com/office/powerpoint/2010/main" val="1201557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Manipulation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184" y="1879600"/>
            <a:ext cx="7955280" cy="4069080"/>
          </a:xfrm>
        </p:spPr>
        <p:txBody>
          <a:bodyPr/>
          <a:lstStyle/>
          <a:p>
            <a:pPr>
              <a:buNone/>
            </a:pPr>
            <a:r>
              <a:rPr lang="pt-BR" sz="1700" dirty="0">
                <a:solidFill>
                  <a:srgbClr val="8B949E"/>
                </a:solidFill>
                <a:latin typeface="Segoe UI"/>
              </a:rPr>
              <a:t>Protocolos dependem de preços externos. Se o preço mente, o protocolo é enganado.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mh"/>
          <p:cNvSpPr/>
          <p:nvPr/>
        </p:nvSpPr>
        <p:spPr>
          <a:xfrm>
            <a:off x="457200" y="2336800"/>
            <a:ext cx="8229600" cy="3302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500" b="1" dirty="0">
                <a:solidFill>
                  <a:srgbClr val="00E676"/>
                </a:solidFill>
                <a:latin typeface="Consolas"/>
              </a:rPr>
              <a:t>// mitigações</a:t>
            </a:r>
          </a:p>
        </p:txBody>
      </p:sp>
      <p:sp>
        <p:nvSpPr>
          <p:cNvPr id="80" name="c0"/>
          <p:cNvSpPr/>
          <p:nvPr/>
        </p:nvSpPr>
        <p:spPr>
          <a:xfrm>
            <a:off x="457200" y="2768600"/>
            <a:ext cx="2616200" cy="1905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00E676"/>
            </a:solidFill>
          </a:ln>
        </p:spPr>
        <p:txBody>
          <a:bodyPr lIns="108000" tIns="108000" rIns="108000" bIns="108000" anchor="t"/>
          <a:lstStyle/>
          <a:p>
            <a:r>
              <a:rPr lang="en-US" sz="1700" b="1" dirty="0">
                <a:solidFill>
                  <a:srgbClr val="00E676"/>
                </a:solidFill>
                <a:latin typeface="Segoe UI"/>
              </a:rPr>
              <a:t>TWAP</a:t>
            </a:r>
          </a:p>
          <a:p>
            <a:pPr>
              <a:spcBef>
                <a:spcPts val="6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Preço médio ponderado no tempo resiste a manipulação pontual</a:t>
            </a:r>
          </a:p>
        </p:txBody>
      </p:sp>
      <p:sp>
        <p:nvSpPr>
          <p:cNvPr id="81" name="c1"/>
          <p:cNvSpPr/>
          <p:nvPr/>
        </p:nvSpPr>
        <p:spPr>
          <a:xfrm>
            <a:off x="3263900" y="2768600"/>
            <a:ext cx="2616200" cy="1905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txBody>
          <a:bodyPr lIns="108000" tIns="108000" rIns="108000" bIns="108000" anchor="t"/>
          <a:lstStyle/>
          <a:p>
            <a:r>
              <a:rPr lang="en-US" sz="1700" b="1" dirty="0">
                <a:solidFill>
                  <a:srgbClr val="22D3EE"/>
                </a:solidFill>
                <a:latin typeface="Segoe UI"/>
              </a:rPr>
              <a:t>Oráculos descentralizados</a:t>
            </a:r>
          </a:p>
          <a:p>
            <a:pPr>
              <a:spcBef>
                <a:spcPts val="6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Chainlink e múltiplas fontes agregadas</a:t>
            </a:r>
          </a:p>
        </p:txBody>
      </p:sp>
      <p:sp>
        <p:nvSpPr>
          <p:cNvPr id="82" name="c2"/>
          <p:cNvSpPr/>
          <p:nvPr/>
        </p:nvSpPr>
        <p:spPr>
          <a:xfrm>
            <a:off x="6070600" y="2768600"/>
            <a:ext cx="2616200" cy="1905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</p:spPr>
        <p:txBody>
          <a:bodyPr lIns="108000" tIns="108000" rIns="108000" bIns="108000" anchor="t"/>
          <a:lstStyle/>
          <a:p>
            <a:r>
              <a:rPr lang="en-US" sz="1700" b="1" dirty="0">
                <a:solidFill>
                  <a:srgbClr val="A78BFA"/>
                </a:solidFill>
                <a:latin typeface="Segoe UI"/>
              </a:rPr>
              <a:t>Circuit breakers</a:t>
            </a:r>
          </a:p>
          <a:p>
            <a:pPr>
              <a:spcBef>
                <a:spcPts val="6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Pausam o protocolo diante de desvios anômalos</a:t>
            </a:r>
          </a:p>
        </p:txBody>
      </p:sp>
      <p:sp>
        <p:nvSpPr>
          <p:cNvPr id="140" name="warn"/>
          <p:cNvSpPr/>
          <p:nvPr/>
        </p:nvSpPr>
        <p:spPr>
          <a:xfrm>
            <a:off x="457200" y="4978400"/>
            <a:ext cx="8229600" cy="787400"/>
          </a:xfrm>
          <a:prstGeom prst="roundRect">
            <a:avLst>
              <a:gd name="adj" fmla="val 8000"/>
            </a:avLst>
          </a:prstGeom>
          <a:solidFill>
            <a:srgbClr val="2B1216"/>
          </a:solidFill>
          <a:ln w="12700">
            <a:solidFill>
              <a:srgbClr val="F43F5E"/>
            </a:solidFill>
          </a:ln>
        </p:spPr>
        <p:txBody>
          <a:bodyPr lIns="144000" tIns="48000" rIns="144000" bIns="48000" anchor="ctr"/>
          <a:lstStyle/>
          <a:p>
            <a:r>
              <a:rPr lang="pt-BR" sz="1500" b="1" dirty="0">
                <a:solidFill>
                  <a:srgbClr val="F43F5E"/>
                </a:solidFill>
                <a:latin typeface="Segoe UI"/>
              </a:rPr>
              <a:t>Risco: </a:t>
            </a:r>
            <a:r>
              <a:rPr lang="pt-BR" sz="1500" dirty="0">
                <a:solidFill>
                  <a:schemeClr val="tx1"/>
                </a:solidFill>
                <a:latin typeface="Segoe UI"/>
              </a:rPr>
              <a:t>oráculo de fonte única + baixa liquidez = alvo fácil.</a:t>
            </a:r>
          </a:p>
        </p:txBody>
      </p:sp>
    </p:spTree>
    <p:extLst>
      <p:ext uri="{BB962C8B-B14F-4D97-AF65-F5344CB8AC3E}">
        <p14:creationId xmlns:p14="http://schemas.microsoft.com/office/powerpoint/2010/main" val="1318931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660" y="2057401"/>
            <a:ext cx="7955280" cy="4069080"/>
          </a:xfrm>
        </p:spPr>
        <p:txBody>
          <a:bodyPr/>
          <a:lstStyle/>
          <a:p>
            <a:pPr>
              <a:buNone/>
            </a:pPr>
            <a:r>
              <a:rPr lang="pt-BR" sz="1700" dirty="0">
                <a:solidFill>
                  <a:srgbClr val="8B949E"/>
                </a:solidFill>
                <a:latin typeface="Segoe UI"/>
              </a:rPr>
              <a:t>Cada componente adiciona uma premissa de confiança — e cada premissa é uma superfície de ataque.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bx0"/>
          <p:cNvSpPr/>
          <p:nvPr/>
        </p:nvSpPr>
        <p:spPr>
          <a:xfrm>
            <a:off x="457200" y="2730500"/>
            <a:ext cx="1905000" cy="1320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875">
            <a:solidFill>
              <a:srgbClr val="22D3EE"/>
            </a:solidFill>
          </a:ln>
        </p:spPr>
        <p:txBody>
          <a:bodyPr lIns="54000" tIns="60000" rIns="54000" bIns="6000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Segoe UI"/>
              </a:rPr>
              <a:t>Chain A</a:t>
            </a:r>
          </a:p>
          <a:p>
            <a:pPr algn="ctr">
              <a:spcBef>
                <a:spcPts val="300"/>
              </a:spcBef>
            </a:pPr>
            <a:r>
              <a:rPr lang="en-US" sz="1300" dirty="0">
                <a:solidFill>
                  <a:srgbClr val="8B949E"/>
                </a:solidFill>
                <a:latin typeface="Consolas"/>
              </a:rPr>
              <a:t>origem</a:t>
            </a:r>
          </a:p>
        </p:txBody>
      </p:sp>
      <p:sp>
        <p:nvSpPr>
          <p:cNvPr id="81" name="bx1"/>
          <p:cNvSpPr/>
          <p:nvPr/>
        </p:nvSpPr>
        <p:spPr>
          <a:xfrm>
            <a:off x="2565400" y="2730500"/>
            <a:ext cx="1905000" cy="1320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875">
            <a:solidFill>
              <a:srgbClr val="FBBF24"/>
            </a:solidFill>
          </a:ln>
        </p:spPr>
        <p:txBody>
          <a:bodyPr lIns="54000" tIns="60000" rIns="54000" bIns="6000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Segoe UI"/>
              </a:rPr>
              <a:t>Lock / Custódia</a:t>
            </a:r>
          </a:p>
          <a:p>
            <a:pPr algn="ctr">
              <a:spcBef>
                <a:spcPts val="300"/>
              </a:spcBef>
            </a:pPr>
            <a:r>
              <a:rPr lang="en-US" sz="1300" dirty="0">
                <a:solidFill>
                  <a:srgbClr val="8B949E"/>
                </a:solidFill>
                <a:latin typeface="Consolas"/>
              </a:rPr>
              <a:t>trava os ativos</a:t>
            </a:r>
          </a:p>
        </p:txBody>
      </p:sp>
      <p:sp>
        <p:nvSpPr>
          <p:cNvPr id="151" name="tt1"/>
          <p:cNvSpPr/>
          <p:nvPr/>
        </p:nvSpPr>
        <p:spPr>
          <a:xfrm>
            <a:off x="2565400" y="4127500"/>
            <a:ext cx="1905000" cy="254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pt-BR" sz="1300" b="1" dirty="0">
                <a:solidFill>
                  <a:srgbClr val="F43F5E"/>
                </a:solidFill>
                <a:latin typeface="Consolas"/>
              </a:rPr>
              <a:t>+ confiança</a:t>
            </a:r>
          </a:p>
        </p:txBody>
      </p:sp>
      <p:sp>
        <p:nvSpPr>
          <p:cNvPr id="82" name="bx2"/>
          <p:cNvSpPr/>
          <p:nvPr/>
        </p:nvSpPr>
        <p:spPr>
          <a:xfrm>
            <a:off x="4673600" y="2730500"/>
            <a:ext cx="1905000" cy="1320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875">
            <a:solidFill>
              <a:srgbClr val="F43F5E"/>
            </a:solidFill>
          </a:ln>
        </p:spPr>
        <p:txBody>
          <a:bodyPr lIns="54000" tIns="60000" rIns="54000" bIns="6000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Segoe UI"/>
              </a:rPr>
              <a:t>Validadores</a:t>
            </a:r>
          </a:p>
          <a:p>
            <a:pPr algn="ctr">
              <a:spcBef>
                <a:spcPts val="300"/>
              </a:spcBef>
            </a:pPr>
            <a:r>
              <a:rPr lang="en-US" sz="1300" dirty="0">
                <a:solidFill>
                  <a:srgbClr val="8B949E"/>
                </a:solidFill>
                <a:latin typeface="Consolas"/>
              </a:rPr>
              <a:t>relayers assinam</a:t>
            </a:r>
          </a:p>
        </p:txBody>
      </p:sp>
      <p:sp>
        <p:nvSpPr>
          <p:cNvPr id="152" name="tt2"/>
          <p:cNvSpPr/>
          <p:nvPr/>
        </p:nvSpPr>
        <p:spPr>
          <a:xfrm>
            <a:off x="4673600" y="4127500"/>
            <a:ext cx="1905000" cy="254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pt-BR" sz="1300" b="1" dirty="0">
                <a:solidFill>
                  <a:srgbClr val="F43F5E"/>
                </a:solidFill>
                <a:latin typeface="Consolas"/>
              </a:rPr>
              <a:t>+ confiança</a:t>
            </a:r>
          </a:p>
        </p:txBody>
      </p:sp>
      <p:sp>
        <p:nvSpPr>
          <p:cNvPr id="83" name="bx3"/>
          <p:cNvSpPr/>
          <p:nvPr/>
        </p:nvSpPr>
        <p:spPr>
          <a:xfrm>
            <a:off x="6781800" y="2730500"/>
            <a:ext cx="1905000" cy="1320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875">
            <a:solidFill>
              <a:srgbClr val="A78BFA"/>
            </a:solidFill>
          </a:ln>
        </p:spPr>
        <p:txBody>
          <a:bodyPr lIns="54000" tIns="60000" rIns="54000" bIns="6000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Segoe UI"/>
              </a:rPr>
              <a:t>Chain B</a:t>
            </a:r>
          </a:p>
          <a:p>
            <a:pPr algn="ctr">
              <a:spcBef>
                <a:spcPts val="300"/>
              </a:spcBef>
            </a:pPr>
            <a:r>
              <a:rPr lang="en-US" sz="1300" dirty="0">
                <a:solidFill>
                  <a:srgbClr val="8B949E"/>
                </a:solidFill>
                <a:latin typeface="Consolas"/>
              </a:rPr>
              <a:t>mint no destino</a:t>
            </a:r>
          </a:p>
        </p:txBody>
      </p:sp>
      <p:sp>
        <p:nvSpPr>
          <p:cNvPr id="120" name="ar0"/>
          <p:cNvSpPr/>
          <p:nvPr/>
        </p:nvSpPr>
        <p:spPr>
          <a:xfrm>
            <a:off x="2324100" y="3251200"/>
            <a:ext cx="279400" cy="27940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ar1"/>
          <p:cNvSpPr/>
          <p:nvPr/>
        </p:nvSpPr>
        <p:spPr>
          <a:xfrm>
            <a:off x="4432300" y="3251200"/>
            <a:ext cx="279400" cy="27940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ar2"/>
          <p:cNvSpPr/>
          <p:nvPr/>
        </p:nvSpPr>
        <p:spPr>
          <a:xfrm>
            <a:off x="6540500" y="3251200"/>
            <a:ext cx="279400" cy="27940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0" name="stat"/>
          <p:cNvSpPr/>
          <p:nvPr/>
        </p:nvSpPr>
        <p:spPr>
          <a:xfrm>
            <a:off x="457200" y="4648200"/>
            <a:ext cx="8229600" cy="889000"/>
          </a:xfrm>
          <a:prstGeom prst="roundRect">
            <a:avLst>
              <a:gd name="adj" fmla="val 8000"/>
            </a:avLst>
          </a:prstGeom>
          <a:solidFill>
            <a:srgbClr val="2B1216"/>
          </a:solidFill>
          <a:ln w="12700">
            <a:solidFill>
              <a:srgbClr val="F43F5E"/>
            </a:solidFill>
          </a:ln>
        </p:spPr>
        <p:txBody>
          <a:bodyPr lIns="144000" tIns="48000" rIns="144000" bIns="48000" anchor="ctr"/>
          <a:lstStyle/>
          <a:p>
            <a:r>
              <a:rPr lang="pt-BR" sz="1600" b="1" dirty="0">
                <a:solidFill>
                  <a:srgbClr val="F43F5E"/>
                </a:solidFill>
                <a:latin typeface="Segoe UI"/>
              </a:rPr>
              <a:t>Pontes concentram alguns dos maiores roubos da história da Web3.</a:t>
            </a:r>
          </a:p>
        </p:txBody>
      </p:sp>
    </p:spTree>
    <p:extLst>
      <p:ext uri="{BB962C8B-B14F-4D97-AF65-F5344CB8AC3E}">
        <p14:creationId xmlns:p14="http://schemas.microsoft.com/office/powerpoint/2010/main" val="4164105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0260" y="510372"/>
            <a:ext cx="6377940" cy="1293028"/>
          </a:xfrm>
        </p:spPr>
        <p:txBody>
          <a:bodyPr/>
          <a:lstStyle/>
          <a:p>
            <a:r>
              <a:rPr dirty="0"/>
              <a:t>Casos Reais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c0"/>
          <p:cNvSpPr/>
          <p:nvPr/>
        </p:nvSpPr>
        <p:spPr>
          <a:xfrm>
            <a:off x="457200" y="1879600"/>
            <a:ext cx="2616200" cy="3683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5875">
            <a:solidFill>
              <a:srgbClr val="F43F5E"/>
            </a:solidFill>
          </a:ln>
        </p:spPr>
        <p:txBody>
          <a:bodyPr lIns="126000" tIns="126000" rIns="126000" bIns="126000" anchor="t"/>
          <a:lstStyle/>
          <a:p>
            <a:r>
              <a:rPr lang="en-US" sz="2000" b="1" dirty="0">
                <a:solidFill>
                  <a:schemeClr val="tx1"/>
                </a:solidFill>
                <a:latin typeface="Segoe UI"/>
              </a:rPr>
              <a:t>Ronin</a:t>
            </a:r>
          </a:p>
          <a:p>
            <a:pPr>
              <a:spcBef>
                <a:spcPts val="800"/>
              </a:spcBef>
            </a:pPr>
            <a:r>
              <a:rPr lang="en-US" sz="3600" b="1" dirty="0">
                <a:solidFill>
                  <a:srgbClr val="F43F5E"/>
                </a:solidFill>
                <a:latin typeface="Consolas"/>
              </a:rPr>
              <a:t>$625M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8B949E"/>
                </a:solidFill>
                <a:latin typeface="Consolas"/>
              </a:rPr>
              <a:t>Mar 2022</a:t>
            </a:r>
          </a:p>
          <a:p>
            <a:pPr>
              <a:spcBef>
                <a:spcPts val="1000"/>
              </a:spcBef>
            </a:pPr>
            <a:r>
              <a:rPr lang="pt-BR" sz="1500" dirty="0">
                <a:solidFill>
                  <a:srgbClr val="C9D1D9"/>
                </a:solidFill>
                <a:latin typeface="Segoe UI"/>
              </a:rPr>
              <a:t>5 de 9 chaves de validador comprometidas</a:t>
            </a:r>
          </a:p>
        </p:txBody>
      </p:sp>
      <p:sp>
        <p:nvSpPr>
          <p:cNvPr id="81" name="c1"/>
          <p:cNvSpPr/>
          <p:nvPr/>
        </p:nvSpPr>
        <p:spPr>
          <a:xfrm>
            <a:off x="3251200" y="1879600"/>
            <a:ext cx="2616200" cy="3683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5875">
            <a:solidFill>
              <a:srgbClr val="FBBF24"/>
            </a:solidFill>
          </a:ln>
        </p:spPr>
        <p:txBody>
          <a:bodyPr lIns="126000" tIns="126000" rIns="126000" bIns="126000" anchor="t"/>
          <a:lstStyle/>
          <a:p>
            <a:r>
              <a:rPr lang="en-US" sz="2000" b="1" dirty="0">
                <a:solidFill>
                  <a:schemeClr val="tx1"/>
                </a:solidFill>
                <a:latin typeface="Segoe UI"/>
              </a:rPr>
              <a:t>Wormhole</a:t>
            </a:r>
          </a:p>
          <a:p>
            <a:pPr>
              <a:spcBef>
                <a:spcPts val="800"/>
              </a:spcBef>
            </a:pPr>
            <a:r>
              <a:rPr lang="en-US" sz="3600" b="1" dirty="0">
                <a:solidFill>
                  <a:srgbClr val="FBBF24"/>
                </a:solidFill>
                <a:latin typeface="Consolas"/>
              </a:rPr>
              <a:t>$326M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8B949E"/>
                </a:solidFill>
                <a:latin typeface="Consolas"/>
              </a:rPr>
              <a:t>Fev 2022</a:t>
            </a:r>
          </a:p>
          <a:p>
            <a:pPr>
              <a:spcBef>
                <a:spcPts val="1000"/>
              </a:spcBef>
            </a:pPr>
            <a:r>
              <a:rPr lang="pt-BR" sz="1500" dirty="0">
                <a:solidFill>
                  <a:srgbClr val="C9D1D9"/>
                </a:solidFill>
                <a:latin typeface="Segoe UI"/>
              </a:rPr>
              <a:t>Falha na verificação de assinaturas</a:t>
            </a:r>
          </a:p>
        </p:txBody>
      </p:sp>
      <p:sp>
        <p:nvSpPr>
          <p:cNvPr id="82" name="c2"/>
          <p:cNvSpPr/>
          <p:nvPr/>
        </p:nvSpPr>
        <p:spPr>
          <a:xfrm>
            <a:off x="6045200" y="1879600"/>
            <a:ext cx="2616200" cy="3683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5875">
            <a:solidFill>
              <a:srgbClr val="A78BFA"/>
            </a:solidFill>
          </a:ln>
        </p:spPr>
        <p:txBody>
          <a:bodyPr lIns="126000" tIns="126000" rIns="126000" bIns="126000" anchor="t"/>
          <a:lstStyle/>
          <a:p>
            <a:r>
              <a:rPr lang="en-US" sz="2000" b="1" dirty="0">
                <a:solidFill>
                  <a:schemeClr val="tx1"/>
                </a:solidFill>
                <a:latin typeface="Segoe UI"/>
              </a:rPr>
              <a:t>Nomad</a:t>
            </a:r>
          </a:p>
          <a:p>
            <a:pPr>
              <a:spcBef>
                <a:spcPts val="800"/>
              </a:spcBef>
            </a:pPr>
            <a:r>
              <a:rPr lang="en-US" sz="3600" b="1" dirty="0">
                <a:solidFill>
                  <a:srgbClr val="A78BFA"/>
                </a:solidFill>
                <a:latin typeface="Consolas"/>
              </a:rPr>
              <a:t>$190M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8B949E"/>
                </a:solidFill>
                <a:latin typeface="Consolas"/>
              </a:rPr>
              <a:t>Ago 2022</a:t>
            </a:r>
          </a:p>
          <a:p>
            <a:pPr>
              <a:spcBef>
                <a:spcPts val="1000"/>
              </a:spcBef>
            </a:pPr>
            <a:r>
              <a:rPr lang="pt-BR" sz="1500" dirty="0">
                <a:solidFill>
                  <a:srgbClr val="C9D1D9"/>
                </a:solidFill>
                <a:latin typeface="Segoe UI"/>
              </a:rPr>
              <a:t>Inicialização falha permitiu replay de mensagens</a:t>
            </a:r>
          </a:p>
        </p:txBody>
      </p:sp>
      <p:sp>
        <p:nvSpPr>
          <p:cNvPr id="140" name="note"/>
          <p:cNvSpPr/>
          <p:nvPr/>
        </p:nvSpPr>
        <p:spPr>
          <a:xfrm>
            <a:off x="457200" y="5715000"/>
            <a:ext cx="8229600" cy="355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pt-BR" sz="1500" b="1" dirty="0">
                <a:solidFill>
                  <a:srgbClr val="00E676"/>
                </a:solidFill>
                <a:latin typeface="Segoe UI"/>
              </a:rPr>
              <a:t>Todas falhas de arquitetura e operação — nenhum bug clássico de smart contract.</a:t>
            </a:r>
          </a:p>
        </p:txBody>
      </p:sp>
      <p:sp>
        <p:nvSpPr>
          <p:cNvPr id="200" name="src"/>
          <p:cNvSpPr/>
          <p:nvPr/>
        </p:nvSpPr>
        <p:spPr>
          <a:xfrm>
            <a:off x="457200" y="6146800"/>
            <a:ext cx="8229600" cy="254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r>
              <a:rPr lang="pt-BR" sz="1100" i="1" dirty="0">
                <a:solidFill>
                  <a:srgbClr val="8B949E"/>
                </a:solidFill>
                <a:latin typeface="Segoe UI"/>
              </a:rPr>
              <a:t>Fontes: postmortems oficiais; CoinDesk, Elliptic e Rekt.News (2022). Valores em USD na data do incidente.</a:t>
            </a:r>
          </a:p>
        </p:txBody>
      </p:sp>
    </p:spTree>
    <p:extLst>
      <p:ext uri="{BB962C8B-B14F-4D97-AF65-F5344CB8AC3E}">
        <p14:creationId xmlns:p14="http://schemas.microsoft.com/office/powerpoint/2010/main" val="3399195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Gestão de Chaves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p0"/>
          <p:cNvSpPr/>
          <p:nvPr/>
        </p:nvSpPr>
        <p:spPr>
          <a:xfrm>
            <a:off x="457200" y="1778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s0"/>
          <p:cNvSpPr/>
          <p:nvPr/>
        </p:nvSpPr>
        <p:spPr>
          <a:xfrm>
            <a:off x="457200" y="1778000"/>
            <a:ext cx="76200" cy="914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" name="t0"/>
          <p:cNvSpPr/>
          <p:nvPr/>
        </p:nvSpPr>
        <p:spPr>
          <a:xfrm>
            <a:off x="762000" y="1778000"/>
            <a:ext cx="7670800" cy="914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00E676"/>
                </a:solidFill>
                <a:latin typeface="Consolas"/>
              </a:rPr>
              <a:t>Multisig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Múltiplas assinaturas para autorizar transações</a:t>
            </a:r>
          </a:p>
        </p:txBody>
      </p:sp>
      <p:sp>
        <p:nvSpPr>
          <p:cNvPr id="81" name="p1"/>
          <p:cNvSpPr/>
          <p:nvPr/>
        </p:nvSpPr>
        <p:spPr>
          <a:xfrm>
            <a:off x="457200" y="28702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1"/>
          <p:cNvSpPr/>
          <p:nvPr/>
        </p:nvSpPr>
        <p:spPr>
          <a:xfrm>
            <a:off x="457200" y="2870200"/>
            <a:ext cx="76200" cy="914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t1"/>
          <p:cNvSpPr/>
          <p:nvPr/>
        </p:nvSpPr>
        <p:spPr>
          <a:xfrm>
            <a:off x="762000" y="2870200"/>
            <a:ext cx="7670800" cy="914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22D3EE"/>
                </a:solidFill>
                <a:latin typeface="Consolas"/>
              </a:rPr>
              <a:t>Hardware Wallets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Chaves isoladas em dispositivo dedicado</a:t>
            </a:r>
          </a:p>
        </p:txBody>
      </p:sp>
      <p:sp>
        <p:nvSpPr>
          <p:cNvPr id="82" name="p2"/>
          <p:cNvSpPr/>
          <p:nvPr/>
        </p:nvSpPr>
        <p:spPr>
          <a:xfrm>
            <a:off x="457200" y="3962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s2"/>
          <p:cNvSpPr/>
          <p:nvPr/>
        </p:nvSpPr>
        <p:spPr>
          <a:xfrm>
            <a:off x="457200" y="3962400"/>
            <a:ext cx="76200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2"/>
          <p:cNvSpPr/>
          <p:nvPr/>
        </p:nvSpPr>
        <p:spPr>
          <a:xfrm>
            <a:off x="762000" y="3962400"/>
            <a:ext cx="7670800" cy="914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A78BFA"/>
                </a:solidFill>
                <a:latin typeface="Consolas"/>
              </a:rPr>
              <a:t>MPC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Computação multipartidária, sem chave única</a:t>
            </a:r>
          </a:p>
        </p:txBody>
      </p:sp>
      <p:sp>
        <p:nvSpPr>
          <p:cNvPr id="83" name="p3"/>
          <p:cNvSpPr/>
          <p:nvPr/>
        </p:nvSpPr>
        <p:spPr>
          <a:xfrm>
            <a:off x="457200" y="5054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s3"/>
          <p:cNvSpPr/>
          <p:nvPr/>
        </p:nvSpPr>
        <p:spPr>
          <a:xfrm>
            <a:off x="457200" y="5054600"/>
            <a:ext cx="76200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3"/>
          <p:cNvSpPr/>
          <p:nvPr/>
        </p:nvSpPr>
        <p:spPr>
          <a:xfrm>
            <a:off x="762000" y="5054600"/>
            <a:ext cx="7670800" cy="914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FBBF24"/>
                </a:solidFill>
                <a:latin typeface="Consolas"/>
              </a:rPr>
              <a:t>Processos Operacionais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Rotação, segregação e auditoria de acesso</a:t>
            </a:r>
          </a:p>
        </p:txBody>
      </p:sp>
    </p:spTree>
    <p:extLst>
      <p:ext uri="{BB962C8B-B14F-4D97-AF65-F5344CB8AC3E}">
        <p14:creationId xmlns:p14="http://schemas.microsoft.com/office/powerpoint/2010/main" val="753533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860" y="648886"/>
            <a:ext cx="6377940" cy="1293028"/>
          </a:xfrm>
        </p:spPr>
        <p:txBody>
          <a:bodyPr/>
          <a:lstStyle/>
          <a:p>
            <a:r>
              <a:rPr dirty="0"/>
              <a:t>Supply Chain Attacks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p0"/>
          <p:cNvSpPr/>
          <p:nvPr/>
        </p:nvSpPr>
        <p:spPr>
          <a:xfrm>
            <a:off x="457200" y="1676400"/>
            <a:ext cx="8229600" cy="762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s0"/>
          <p:cNvSpPr/>
          <p:nvPr/>
        </p:nvSpPr>
        <p:spPr>
          <a:xfrm>
            <a:off x="457200" y="1676400"/>
            <a:ext cx="76200" cy="762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" name="t0"/>
          <p:cNvSpPr/>
          <p:nvPr/>
        </p:nvSpPr>
        <p:spPr>
          <a:xfrm>
            <a:off x="762000" y="1676400"/>
            <a:ext cx="7670800" cy="762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00E676"/>
                </a:solidFill>
                <a:latin typeface="Consolas"/>
              </a:rPr>
              <a:t>GitHub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Repositórios e Actions comprometidos</a:t>
            </a:r>
          </a:p>
        </p:txBody>
      </p:sp>
      <p:sp>
        <p:nvSpPr>
          <p:cNvPr id="81" name="p1"/>
          <p:cNvSpPr/>
          <p:nvPr/>
        </p:nvSpPr>
        <p:spPr>
          <a:xfrm>
            <a:off x="457200" y="2565400"/>
            <a:ext cx="8229600" cy="762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1"/>
          <p:cNvSpPr/>
          <p:nvPr/>
        </p:nvSpPr>
        <p:spPr>
          <a:xfrm>
            <a:off x="457200" y="2565400"/>
            <a:ext cx="76200" cy="762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t1"/>
          <p:cNvSpPr/>
          <p:nvPr/>
        </p:nvSpPr>
        <p:spPr>
          <a:xfrm>
            <a:off x="762000" y="2565400"/>
            <a:ext cx="7670800" cy="762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22D3EE"/>
                </a:solidFill>
                <a:latin typeface="Consolas"/>
              </a:rPr>
              <a:t>NPM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Pacotes maliciosos publicados no registro</a:t>
            </a:r>
          </a:p>
        </p:txBody>
      </p:sp>
      <p:sp>
        <p:nvSpPr>
          <p:cNvPr id="82" name="p2"/>
          <p:cNvSpPr/>
          <p:nvPr/>
        </p:nvSpPr>
        <p:spPr>
          <a:xfrm>
            <a:off x="457200" y="3454400"/>
            <a:ext cx="8229600" cy="762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s2"/>
          <p:cNvSpPr/>
          <p:nvPr/>
        </p:nvSpPr>
        <p:spPr>
          <a:xfrm>
            <a:off x="457200" y="3454400"/>
            <a:ext cx="76200" cy="762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2"/>
          <p:cNvSpPr/>
          <p:nvPr/>
        </p:nvSpPr>
        <p:spPr>
          <a:xfrm>
            <a:off x="762000" y="3454400"/>
            <a:ext cx="7670800" cy="762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A78BFA"/>
                </a:solidFill>
                <a:latin typeface="Consolas"/>
              </a:rPr>
              <a:t>CI/CD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Pipelines de build sequestrados</a:t>
            </a:r>
          </a:p>
        </p:txBody>
      </p:sp>
      <p:sp>
        <p:nvSpPr>
          <p:cNvPr id="83" name="p3"/>
          <p:cNvSpPr/>
          <p:nvPr/>
        </p:nvSpPr>
        <p:spPr>
          <a:xfrm>
            <a:off x="457200" y="4343400"/>
            <a:ext cx="8229600" cy="762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s3"/>
          <p:cNvSpPr/>
          <p:nvPr/>
        </p:nvSpPr>
        <p:spPr>
          <a:xfrm>
            <a:off x="457200" y="4343400"/>
            <a:ext cx="76200" cy="762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3"/>
          <p:cNvSpPr/>
          <p:nvPr/>
        </p:nvSpPr>
        <p:spPr>
          <a:xfrm>
            <a:off x="762000" y="4343400"/>
            <a:ext cx="7670800" cy="762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FBBF24"/>
                </a:solidFill>
                <a:latin typeface="Consolas"/>
              </a:rPr>
              <a:t>Dependency Confusion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Pacotes internos substituídos por públicos</a:t>
            </a:r>
          </a:p>
        </p:txBody>
      </p:sp>
      <p:sp>
        <p:nvSpPr>
          <p:cNvPr id="84" name="p4"/>
          <p:cNvSpPr/>
          <p:nvPr/>
        </p:nvSpPr>
        <p:spPr>
          <a:xfrm>
            <a:off x="457200" y="5232400"/>
            <a:ext cx="8229600" cy="762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" name="s4"/>
          <p:cNvSpPr/>
          <p:nvPr/>
        </p:nvSpPr>
        <p:spPr>
          <a:xfrm>
            <a:off x="457200" y="5232400"/>
            <a:ext cx="76200" cy="762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4"/>
          <p:cNvSpPr/>
          <p:nvPr/>
        </p:nvSpPr>
        <p:spPr>
          <a:xfrm>
            <a:off x="762000" y="5232400"/>
            <a:ext cx="7670800" cy="762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800" b="1" dirty="0">
                <a:solidFill>
                  <a:srgbClr val="F43F5E"/>
                </a:solidFill>
                <a:latin typeface="Consolas"/>
              </a:rPr>
              <a:t>Typosquatting</a:t>
            </a:r>
          </a:p>
          <a:p>
            <a:pPr>
              <a:spcBef>
                <a:spcPts val="2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Nomes parecidos enganam a instalação</a:t>
            </a:r>
          </a:p>
        </p:txBody>
      </p:sp>
    </p:spTree>
    <p:extLst>
      <p:ext uri="{BB962C8B-B14F-4D97-AF65-F5344CB8AC3E}">
        <p14:creationId xmlns:p14="http://schemas.microsoft.com/office/powerpoint/2010/main" val="2721702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Lições dos Grandes Hacks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1"/>
            <a:ext cx="8092440" cy="4206239"/>
          </a:xfrm>
        </p:spPr>
        <p:txBody>
          <a:bodyPr/>
          <a:lstStyle/>
          <a:p>
            <a:pPr>
              <a:buNone/>
            </a:pPr>
            <a:r>
              <a:rPr lang="pt-BR" sz="1700" dirty="0">
                <a:solidFill>
                  <a:srgbClr val="8B949E"/>
                </a:solidFill>
                <a:latin typeface="Segoe UI"/>
              </a:rPr>
              <a:t>A maioria dos incidentes pertence a poucas categorias recorrentes.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c0"/>
          <p:cNvSpPr/>
          <p:nvPr/>
        </p:nvSpPr>
        <p:spPr>
          <a:xfrm>
            <a:off x="457200" y="2438400"/>
            <a:ext cx="39624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00E676"/>
            </a:solidFill>
          </a:ln>
        </p:spPr>
        <p:txBody>
          <a:bodyPr lIns="126000" tIns="100000" rIns="126000" bIns="100000" anchor="ctr"/>
          <a:lstStyle/>
          <a:p>
            <a:r>
              <a:rPr lang="en-US" sz="1400" b="1" dirty="0">
                <a:solidFill>
                  <a:srgbClr val="00E676"/>
                </a:solidFill>
                <a:latin typeface="Consolas"/>
              </a:rPr>
              <a:t>01 </a:t>
            </a:r>
            <a:r>
              <a:rPr lang="pt-BR" sz="1800" b="1" dirty="0">
                <a:solidFill>
                  <a:schemeClr val="tx1"/>
                </a:solidFill>
                <a:latin typeface="Segoe UI"/>
              </a:rPr>
              <a:t>Poucos padrões, muitos incidentes</a:t>
            </a:r>
          </a:p>
          <a:p>
            <a:pPr>
              <a:spcBef>
                <a:spcPts val="5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Reentrancy, controle de acesso, oráculos e pontes dominam</a:t>
            </a:r>
          </a:p>
        </p:txBody>
      </p:sp>
      <p:sp>
        <p:nvSpPr>
          <p:cNvPr id="81" name="c1"/>
          <p:cNvSpPr/>
          <p:nvPr/>
        </p:nvSpPr>
        <p:spPr>
          <a:xfrm>
            <a:off x="4724400" y="2438400"/>
            <a:ext cx="39624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txBody>
          <a:bodyPr lIns="126000" tIns="100000" rIns="126000" bIns="100000" anchor="ctr"/>
          <a:lstStyle/>
          <a:p>
            <a:r>
              <a:rPr lang="en-US" sz="1400" b="1" dirty="0">
                <a:solidFill>
                  <a:srgbClr val="22D3EE"/>
                </a:solidFill>
                <a:latin typeface="Consolas"/>
              </a:rPr>
              <a:t>02 </a:t>
            </a:r>
            <a:r>
              <a:rPr lang="pt-BR" sz="1800" b="1" dirty="0">
                <a:solidFill>
                  <a:schemeClr val="tx1"/>
                </a:solidFill>
                <a:latin typeface="Segoe UI"/>
              </a:rPr>
              <a:t>Auditoria não é garantia</a:t>
            </a:r>
          </a:p>
          <a:p>
            <a:pPr>
              <a:spcBef>
                <a:spcPts val="5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Código auditado ainda falha em operação e governança</a:t>
            </a:r>
          </a:p>
        </p:txBody>
      </p:sp>
      <p:sp>
        <p:nvSpPr>
          <p:cNvPr id="82" name="c2"/>
          <p:cNvSpPr/>
          <p:nvPr/>
        </p:nvSpPr>
        <p:spPr>
          <a:xfrm>
            <a:off x="457200" y="4216400"/>
            <a:ext cx="39624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FBBF24"/>
            </a:solidFill>
          </a:ln>
        </p:spPr>
        <p:txBody>
          <a:bodyPr lIns="126000" tIns="100000" rIns="126000" bIns="100000" anchor="ctr"/>
          <a:lstStyle/>
          <a:p>
            <a:r>
              <a:rPr lang="en-US" sz="1400" b="1" dirty="0">
                <a:solidFill>
                  <a:srgbClr val="FBBF24"/>
                </a:solidFill>
                <a:latin typeface="Consolas"/>
              </a:rPr>
              <a:t>03 </a:t>
            </a:r>
            <a:r>
              <a:rPr lang="pt-BR" sz="1800" b="1" dirty="0">
                <a:solidFill>
                  <a:schemeClr val="tx1"/>
                </a:solidFill>
                <a:latin typeface="Segoe UI"/>
              </a:rPr>
              <a:t>O elo humano</a:t>
            </a:r>
          </a:p>
          <a:p>
            <a:pPr>
              <a:spcBef>
                <a:spcPts val="5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Chaves e processos causam as maiores perdas</a:t>
            </a:r>
          </a:p>
        </p:txBody>
      </p:sp>
      <p:sp>
        <p:nvSpPr>
          <p:cNvPr id="83" name="c3"/>
          <p:cNvSpPr/>
          <p:nvPr/>
        </p:nvSpPr>
        <p:spPr>
          <a:xfrm>
            <a:off x="4724400" y="4216400"/>
            <a:ext cx="39624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F43F5E"/>
            </a:solidFill>
          </a:ln>
        </p:spPr>
        <p:txBody>
          <a:bodyPr lIns="126000" tIns="100000" rIns="126000" bIns="100000" anchor="ctr"/>
          <a:lstStyle/>
          <a:p>
            <a:r>
              <a:rPr lang="en-US" sz="1400" b="1" dirty="0">
                <a:solidFill>
                  <a:srgbClr val="F43F5E"/>
                </a:solidFill>
                <a:latin typeface="Consolas"/>
              </a:rPr>
              <a:t>04 </a:t>
            </a:r>
            <a:r>
              <a:rPr lang="pt-BR" sz="1800" b="1" dirty="0">
                <a:solidFill>
                  <a:schemeClr val="tx1"/>
                </a:solidFill>
                <a:latin typeface="Segoe UI"/>
              </a:rPr>
              <a:t>Repetição</a:t>
            </a:r>
          </a:p>
          <a:p>
            <a:pPr>
              <a:spcBef>
                <a:spcPts val="500"/>
              </a:spcBef>
            </a:pPr>
            <a:r>
              <a:rPr lang="pt-BR" sz="1400" dirty="0">
                <a:solidFill>
                  <a:srgbClr val="C9D1D9"/>
                </a:solidFill>
                <a:latin typeface="Segoe UI"/>
              </a:rPr>
              <a:t>Os mesmos erros reaparecem em cada novo protocolo</a:t>
            </a:r>
          </a:p>
        </p:txBody>
      </p:sp>
    </p:spTree>
    <p:extLst>
      <p:ext uri="{BB962C8B-B14F-4D97-AF65-F5344CB8AC3E}">
        <p14:creationId xmlns:p14="http://schemas.microsoft.com/office/powerpoint/2010/main" val="1834590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A0497E7-5E45-4F8B-8FB6-6CEA1E9847F6}"/>
              </a:ext>
            </a:extLst>
          </p:cNvPr>
          <p:cNvSpPr txBox="1"/>
          <p:nvPr/>
        </p:nvSpPr>
        <p:spPr>
          <a:xfrm>
            <a:off x="254000" y="177800"/>
            <a:ext cx="8636000" cy="685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BR" sz="2200">
                <a:solidFill>
                  <a:srgbClr val="FFFFFF"/>
                </a:solidFill>
              </a:rPr>
              <a:t>COMO SE FORMA UM AUDITOR DE SMART CONTRACTS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FB62575-5E3C-42F1-A7F4-FDA3E53FBC13}"/>
              </a:ext>
            </a:extLst>
          </p:cNvPr>
          <p:cNvSpPr/>
          <p:nvPr/>
        </p:nvSpPr>
        <p:spPr>
          <a:xfrm>
            <a:off x="254000" y="1066800"/>
            <a:ext cx="2286000" cy="635000"/>
          </a:xfrm>
          <a:prstGeom prst="roundRect">
            <a:avLst/>
          </a:prstGeom>
          <a:solidFill>
            <a:srgbClr val="01D17D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00000"/>
                </a:solidFill>
              </a:rPr>
              <a:t>Fundamentos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A9FEB3F-71D6-4B68-A848-735F82E0B747}"/>
              </a:ext>
            </a:extLst>
          </p:cNvPr>
          <p:cNvSpPr/>
          <p:nvPr/>
        </p:nvSpPr>
        <p:spPr>
          <a:xfrm>
            <a:off x="2616200" y="1168400"/>
            <a:ext cx="50800" cy="431800"/>
          </a:xfrm>
          <a:prstGeom prst="rect">
            <a:avLst/>
          </a:prstGeom>
          <a:solidFill>
            <a:srgbClr val="01D17D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FC2F7C7-EDA7-450F-BE9F-44D9E111BD29}"/>
              </a:ext>
            </a:extLst>
          </p:cNvPr>
          <p:cNvSpPr txBox="1"/>
          <p:nvPr/>
        </p:nvSpPr>
        <p:spPr>
          <a:xfrm>
            <a:off x="2768600" y="1066800"/>
            <a:ext cx="61214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dirty="0">
                <a:solidFill>
                  <a:srgbClr val="FFFFFF"/>
                </a:solidFill>
              </a:rPr>
              <a:t>Blockchain • Ethereum • Solidity • ERC Standards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C2BC7DA-BA4E-430A-982B-10DA0D42B5F1}"/>
              </a:ext>
            </a:extLst>
          </p:cNvPr>
          <p:cNvSpPr/>
          <p:nvPr/>
        </p:nvSpPr>
        <p:spPr>
          <a:xfrm>
            <a:off x="254000" y="1765300"/>
            <a:ext cx="2286000" cy="635000"/>
          </a:xfrm>
          <a:prstGeom prst="roundRect">
            <a:avLst/>
          </a:prstGeom>
          <a:solidFill>
            <a:srgbClr val="84C72A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00000"/>
                </a:solidFill>
              </a:rPr>
              <a:t>Engenharia Segura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80D729-DA43-46B2-A12A-9BF16C07124D}"/>
              </a:ext>
            </a:extLst>
          </p:cNvPr>
          <p:cNvSpPr/>
          <p:nvPr/>
        </p:nvSpPr>
        <p:spPr>
          <a:xfrm>
            <a:off x="2616200" y="1866900"/>
            <a:ext cx="50800" cy="431800"/>
          </a:xfrm>
          <a:prstGeom prst="rect">
            <a:avLst/>
          </a:prstGeom>
          <a:solidFill>
            <a:srgbClr val="84C72A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E5AD674-022A-4DAB-8152-BA2A3D8DD81C}"/>
              </a:ext>
            </a:extLst>
          </p:cNvPr>
          <p:cNvSpPr txBox="1"/>
          <p:nvPr/>
        </p:nvSpPr>
        <p:spPr>
          <a:xfrm>
            <a:off x="2768600" y="1765300"/>
            <a:ext cx="61214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dirty="0">
                <a:solidFill>
                  <a:srgbClr val="FFFFFF"/>
                </a:solidFill>
              </a:rPr>
              <a:t>Testing • Upgradeability • Yul &amp; EVM Internals • Security Patterns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9AA1073-560B-4C18-BC37-16F53A256A57}"/>
              </a:ext>
            </a:extLst>
          </p:cNvPr>
          <p:cNvSpPr/>
          <p:nvPr/>
        </p:nvSpPr>
        <p:spPr>
          <a:xfrm>
            <a:off x="254000" y="2463800"/>
            <a:ext cx="2286000" cy="635000"/>
          </a:xfrm>
          <a:prstGeom prst="roundRect">
            <a:avLst/>
          </a:prstGeom>
          <a:solidFill>
            <a:srgbClr val="E1D126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00000"/>
                </a:solidFill>
              </a:rPr>
              <a:t>Segurança Ofensiva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EF79EE8-8920-4977-AA2B-017CDBECBE75}"/>
              </a:ext>
            </a:extLst>
          </p:cNvPr>
          <p:cNvSpPr/>
          <p:nvPr/>
        </p:nvSpPr>
        <p:spPr>
          <a:xfrm>
            <a:off x="2616200" y="2565400"/>
            <a:ext cx="50800" cy="431800"/>
          </a:xfrm>
          <a:prstGeom prst="rect">
            <a:avLst/>
          </a:prstGeom>
          <a:solidFill>
            <a:srgbClr val="E1D126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73DA543-54CC-426F-AC57-3525F0288DE7}"/>
              </a:ext>
            </a:extLst>
          </p:cNvPr>
          <p:cNvSpPr txBox="1"/>
          <p:nvPr/>
        </p:nvSpPr>
        <p:spPr>
          <a:xfrm>
            <a:off x="2768600" y="2463800"/>
            <a:ext cx="61214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dirty="0">
                <a:solidFill>
                  <a:srgbClr val="FFFFFF"/>
                </a:solidFill>
              </a:rPr>
              <a:t>Attack Vectors • CTFs • Damn Vulnerable DeFi • Postmortems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20C7370-0819-40DE-9EF8-5B2976E2C4C3}"/>
              </a:ext>
            </a:extLst>
          </p:cNvPr>
          <p:cNvSpPr/>
          <p:nvPr/>
        </p:nvSpPr>
        <p:spPr>
          <a:xfrm>
            <a:off x="254000" y="3162300"/>
            <a:ext cx="2286000" cy="635000"/>
          </a:xfrm>
          <a:prstGeom prst="roundRect">
            <a:avLst/>
          </a:prstGeom>
          <a:solidFill>
            <a:srgbClr val="E29932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00000"/>
                </a:solidFill>
              </a:rPr>
              <a:t>Auditoria Profissional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889E601-0107-4BB3-97B7-93F57B23A4D5}"/>
              </a:ext>
            </a:extLst>
          </p:cNvPr>
          <p:cNvSpPr/>
          <p:nvPr/>
        </p:nvSpPr>
        <p:spPr>
          <a:xfrm>
            <a:off x="2616200" y="3263900"/>
            <a:ext cx="50800" cy="431800"/>
          </a:xfrm>
          <a:prstGeom prst="rect">
            <a:avLst/>
          </a:prstGeom>
          <a:solidFill>
            <a:srgbClr val="E29932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DC410D3-2685-4509-A2FA-7FEB73C0F846}"/>
              </a:ext>
            </a:extLst>
          </p:cNvPr>
          <p:cNvSpPr txBox="1"/>
          <p:nvPr/>
        </p:nvSpPr>
        <p:spPr>
          <a:xfrm>
            <a:off x="2768600" y="3162300"/>
            <a:ext cx="61214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dirty="0">
                <a:solidFill>
                  <a:srgbClr val="FFFFFF"/>
                </a:solidFill>
              </a:rPr>
              <a:t>Relatórios Reais • Formal Verif. • Standards &amp; Checks • Ferramentas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D2743E7-48A5-4780-A4FC-E0908E241410}"/>
              </a:ext>
            </a:extLst>
          </p:cNvPr>
          <p:cNvSpPr/>
          <p:nvPr/>
        </p:nvSpPr>
        <p:spPr>
          <a:xfrm>
            <a:off x="254000" y="3860800"/>
            <a:ext cx="2286000" cy="635000"/>
          </a:xfrm>
          <a:prstGeom prst="roundRect">
            <a:avLst/>
          </a:prstGeom>
          <a:solidFill>
            <a:srgbClr val="E56526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00000"/>
                </a:solidFill>
              </a:rPr>
              <a:t>Arsenal do Auditor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2C5EAF0-2CAC-4915-97C5-47DED6446029}"/>
              </a:ext>
            </a:extLst>
          </p:cNvPr>
          <p:cNvSpPr/>
          <p:nvPr/>
        </p:nvSpPr>
        <p:spPr>
          <a:xfrm>
            <a:off x="2616200" y="3962400"/>
            <a:ext cx="50800" cy="431800"/>
          </a:xfrm>
          <a:prstGeom prst="rect">
            <a:avLst/>
          </a:prstGeom>
          <a:solidFill>
            <a:srgbClr val="E56526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988CE12-A656-42D4-A78F-9129433188FC}"/>
              </a:ext>
            </a:extLst>
          </p:cNvPr>
          <p:cNvSpPr txBox="1"/>
          <p:nvPr/>
        </p:nvSpPr>
        <p:spPr>
          <a:xfrm>
            <a:off x="2768600" y="3860800"/>
            <a:ext cx="61214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400" dirty="0">
                <a:solidFill>
                  <a:srgbClr val="FFFFFF"/>
                </a:solidFill>
              </a:rPr>
              <a:t>Slither • Foundry • Echidna • Mythril • Manticore • Tenderly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18EB4DF-1B49-4A85-B6D8-A15AD45306DB}"/>
              </a:ext>
            </a:extLst>
          </p:cNvPr>
          <p:cNvSpPr/>
          <p:nvPr/>
        </p:nvSpPr>
        <p:spPr>
          <a:xfrm>
            <a:off x="254000" y="4686300"/>
            <a:ext cx="8636000" cy="25400"/>
          </a:xfrm>
          <a:prstGeom prst="rect">
            <a:avLst/>
          </a:prstGeom>
          <a:solidFill>
            <a:srgbClr val="01D17D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31D0680-271C-4880-8E04-507FBB469D85}"/>
              </a:ext>
            </a:extLst>
          </p:cNvPr>
          <p:cNvSpPr/>
          <p:nvPr/>
        </p:nvSpPr>
        <p:spPr>
          <a:xfrm>
            <a:off x="254000" y="4762500"/>
            <a:ext cx="8636000" cy="1422400"/>
          </a:xfrm>
          <a:prstGeom prst="rect">
            <a:avLst/>
          </a:prstGeom>
          <a:solidFill>
            <a:srgbClr val="01D17D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62D3509-4757-4167-A3BC-C8F2FDA364B9}"/>
              </a:ext>
            </a:extLst>
          </p:cNvPr>
          <p:cNvSpPr txBox="1"/>
          <p:nvPr/>
        </p:nvSpPr>
        <p:spPr>
          <a:xfrm>
            <a:off x="381000" y="4787900"/>
            <a:ext cx="8382000" cy="1371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pt-BR" sz="1800" b="1" dirty="0">
                <a:solidFill>
                  <a:srgbClr val="000000"/>
                </a:solidFill>
              </a:rPr>
              <a:t>Um auditor não aprende apenas Solidity.</a:t>
            </a:r>
          </a:p>
          <a:p>
            <a:pPr algn="ctr"/>
            <a:r>
              <a:rPr lang="pt-BR" sz="1800" b="1" dirty="0">
                <a:solidFill>
                  <a:srgbClr val="000000"/>
                </a:solidFill>
              </a:rPr>
              <a:t>Ele aprende como protocolos quebram.</a:t>
            </a:r>
          </a:p>
        </p:txBody>
      </p:sp>
    </p:spTree>
    <p:extLst>
      <p:ext uri="{BB962C8B-B14F-4D97-AF65-F5344CB8AC3E}">
        <p14:creationId xmlns:p14="http://schemas.microsoft.com/office/powerpoint/2010/main" val="4201137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3644" y="383372"/>
            <a:ext cx="6377940" cy="1293028"/>
          </a:xfrm>
        </p:spPr>
        <p:txBody>
          <a:bodyPr/>
          <a:lstStyle/>
          <a:p>
            <a:r>
              <a:rPr dirty="0"/>
              <a:t>O Futuro</a:t>
            </a:r>
          </a:p>
        </p:txBody>
      </p:sp>
      <p:sp>
        <p:nvSpPr>
          <p:cNvPr id="60" name="ul"/>
          <p:cNvSpPr/>
          <p:nvPr/>
        </p:nvSpPr>
        <p:spPr>
          <a:xfrm>
            <a:off x="762000" y="1101514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p0"/>
          <p:cNvSpPr/>
          <p:nvPr/>
        </p:nvSpPr>
        <p:spPr>
          <a:xfrm>
            <a:off x="457200" y="1676400"/>
            <a:ext cx="8229600" cy="762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s0"/>
          <p:cNvSpPr/>
          <p:nvPr/>
        </p:nvSpPr>
        <p:spPr>
          <a:xfrm>
            <a:off x="457200" y="1676400"/>
            <a:ext cx="76200" cy="762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" name="t0"/>
          <p:cNvSpPr/>
          <p:nvPr/>
        </p:nvSpPr>
        <p:spPr>
          <a:xfrm>
            <a:off x="762000" y="1676400"/>
            <a:ext cx="7670800" cy="762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700" b="1" dirty="0">
                <a:solidFill>
                  <a:srgbClr val="F43F5E"/>
                </a:solidFill>
                <a:latin typeface="Consolas"/>
              </a:rPr>
              <a:t>AI-powered Phishing</a:t>
            </a:r>
          </a:p>
          <a:p>
            <a:pPr>
              <a:spcBef>
                <a:spcPts val="200"/>
              </a:spcBef>
            </a:pPr>
            <a:r>
              <a:rPr lang="pt-BR" sz="1300" dirty="0">
                <a:solidFill>
                  <a:srgbClr val="C9D1D9"/>
                </a:solidFill>
                <a:latin typeface="Segoe UI"/>
              </a:rPr>
              <a:t>Engenharia social automatizada em escala</a:t>
            </a:r>
          </a:p>
        </p:txBody>
      </p:sp>
      <p:sp>
        <p:nvSpPr>
          <p:cNvPr id="81" name="p1"/>
          <p:cNvSpPr/>
          <p:nvPr/>
        </p:nvSpPr>
        <p:spPr>
          <a:xfrm>
            <a:off x="457200" y="2565400"/>
            <a:ext cx="8229600" cy="762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1"/>
          <p:cNvSpPr/>
          <p:nvPr/>
        </p:nvSpPr>
        <p:spPr>
          <a:xfrm>
            <a:off x="457200" y="2565400"/>
            <a:ext cx="76200" cy="762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t1"/>
          <p:cNvSpPr/>
          <p:nvPr/>
        </p:nvSpPr>
        <p:spPr>
          <a:xfrm>
            <a:off x="762000" y="2565400"/>
            <a:ext cx="7670800" cy="762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700" b="1" dirty="0">
                <a:solidFill>
                  <a:srgbClr val="22D3EE"/>
                </a:solidFill>
                <a:latin typeface="Consolas"/>
              </a:rPr>
              <a:t>Ameaça Quântica</a:t>
            </a:r>
          </a:p>
          <a:p>
            <a:pPr>
              <a:spcBef>
                <a:spcPts val="200"/>
              </a:spcBef>
            </a:pPr>
            <a:r>
              <a:rPr lang="pt-BR" sz="1300" dirty="0">
                <a:solidFill>
                  <a:srgbClr val="C9D1D9"/>
                </a:solidFill>
                <a:latin typeface="Segoe UI"/>
              </a:rPr>
              <a:t>Computadores quânticos podem quebrar a criptografia atual (ECDSA) — migração para PQC</a:t>
            </a:r>
          </a:p>
        </p:txBody>
      </p:sp>
      <p:sp>
        <p:nvSpPr>
          <p:cNvPr id="82" name="p2"/>
          <p:cNvSpPr/>
          <p:nvPr/>
        </p:nvSpPr>
        <p:spPr>
          <a:xfrm>
            <a:off x="457200" y="3454400"/>
            <a:ext cx="8229600" cy="762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s2"/>
          <p:cNvSpPr/>
          <p:nvPr/>
        </p:nvSpPr>
        <p:spPr>
          <a:xfrm>
            <a:off x="457200" y="3454400"/>
            <a:ext cx="76200" cy="762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2"/>
          <p:cNvSpPr/>
          <p:nvPr/>
        </p:nvSpPr>
        <p:spPr>
          <a:xfrm>
            <a:off x="762000" y="3454400"/>
            <a:ext cx="7670800" cy="762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700" b="1" dirty="0">
                <a:solidFill>
                  <a:srgbClr val="A78BFA"/>
                </a:solidFill>
                <a:latin typeface="Consolas"/>
              </a:rPr>
              <a:t>Runtime Security</a:t>
            </a:r>
          </a:p>
          <a:p>
            <a:pPr>
              <a:spcBef>
                <a:spcPts val="200"/>
              </a:spcBef>
            </a:pPr>
            <a:r>
              <a:rPr lang="pt-BR" sz="1300" dirty="0">
                <a:solidFill>
                  <a:srgbClr val="C9D1D9"/>
                </a:solidFill>
                <a:latin typeface="Segoe UI"/>
              </a:rPr>
              <a:t>Monitoramento e defesa em tempo de execução</a:t>
            </a:r>
          </a:p>
        </p:txBody>
      </p:sp>
      <p:sp>
        <p:nvSpPr>
          <p:cNvPr id="83" name="p3"/>
          <p:cNvSpPr/>
          <p:nvPr/>
        </p:nvSpPr>
        <p:spPr>
          <a:xfrm>
            <a:off x="457200" y="4343400"/>
            <a:ext cx="8229600" cy="762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s3"/>
          <p:cNvSpPr/>
          <p:nvPr/>
        </p:nvSpPr>
        <p:spPr>
          <a:xfrm>
            <a:off x="457200" y="4343400"/>
            <a:ext cx="76200" cy="762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3"/>
          <p:cNvSpPr/>
          <p:nvPr/>
        </p:nvSpPr>
        <p:spPr>
          <a:xfrm>
            <a:off x="762000" y="4343400"/>
            <a:ext cx="7670800" cy="762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700" b="1" dirty="0">
                <a:solidFill>
                  <a:srgbClr val="00E676"/>
                </a:solidFill>
                <a:latin typeface="Consolas"/>
              </a:rPr>
              <a:t>Formal Verification</a:t>
            </a:r>
          </a:p>
          <a:p>
            <a:pPr>
              <a:spcBef>
                <a:spcPts val="200"/>
              </a:spcBef>
            </a:pPr>
            <a:r>
              <a:rPr lang="pt-BR" sz="1300" dirty="0">
                <a:solidFill>
                  <a:srgbClr val="C9D1D9"/>
                </a:solidFill>
                <a:latin typeface="Segoe UI"/>
              </a:rPr>
              <a:t>Prova matemática da corretude do contrato</a:t>
            </a:r>
          </a:p>
        </p:txBody>
      </p:sp>
      <p:sp>
        <p:nvSpPr>
          <p:cNvPr id="84" name="p4"/>
          <p:cNvSpPr/>
          <p:nvPr/>
        </p:nvSpPr>
        <p:spPr>
          <a:xfrm>
            <a:off x="457200" y="5232400"/>
            <a:ext cx="8229600" cy="762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" name="s4"/>
          <p:cNvSpPr/>
          <p:nvPr/>
        </p:nvSpPr>
        <p:spPr>
          <a:xfrm>
            <a:off x="457200" y="5232400"/>
            <a:ext cx="76200" cy="762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4"/>
          <p:cNvSpPr/>
          <p:nvPr/>
        </p:nvSpPr>
        <p:spPr>
          <a:xfrm>
            <a:off x="762000" y="5232400"/>
            <a:ext cx="7670800" cy="762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700" b="1" dirty="0">
                <a:solidFill>
                  <a:srgbClr val="FBBF24"/>
                </a:solidFill>
                <a:latin typeface="Consolas"/>
              </a:rPr>
              <a:t>MPC Wallets</a:t>
            </a:r>
          </a:p>
          <a:p>
            <a:pPr>
              <a:spcBef>
                <a:spcPts val="200"/>
              </a:spcBef>
            </a:pPr>
            <a:r>
              <a:rPr lang="pt-BR" sz="1300" dirty="0">
                <a:solidFill>
                  <a:srgbClr val="C9D1D9"/>
                </a:solidFill>
                <a:latin typeface="Segoe UI"/>
              </a:rPr>
              <a:t>Custódia distribuída como novo padrão</a:t>
            </a:r>
          </a:p>
        </p:txBody>
      </p:sp>
    </p:spTree>
    <p:extLst>
      <p:ext uri="{BB962C8B-B14F-4D97-AF65-F5344CB8AC3E}">
        <p14:creationId xmlns:p14="http://schemas.microsoft.com/office/powerpoint/2010/main" val="2020226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>
              <a:buNone/>
            </a:pPr>
            <a:r>
              <a:rPr lang="pt-BR" sz="2400" dirty="0">
                <a:solidFill>
                  <a:srgbClr val="22D3EE"/>
                </a:solidFill>
                <a:latin typeface="Segoe UI"/>
              </a:rPr>
              <a:t>Blockchains são extremamente seguras.</a:t>
            </a:r>
          </a:p>
          <a:p>
            <a:pPr marL="285750">
              <a:spcBef>
                <a:spcPts val="2000"/>
              </a:spcBef>
              <a:buNone/>
            </a:pPr>
            <a:r>
              <a:rPr lang="pt-BR" sz="3200" b="1" dirty="0">
                <a:solidFill>
                  <a:srgbClr val="00E676"/>
                </a:solidFill>
                <a:latin typeface="Segoe UI"/>
              </a:rPr>
              <a:t>Pessoas e processos continuam sendo o elo mais fraco.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qbar"/>
          <p:cNvSpPr/>
          <p:nvPr/>
        </p:nvSpPr>
        <p:spPr>
          <a:xfrm>
            <a:off x="457200" y="2057400"/>
            <a:ext cx="50800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end"/>
          <p:cNvSpPr/>
          <p:nvPr/>
        </p:nvSpPr>
        <p:spPr>
          <a:xfrm>
            <a:off x="457200" y="5334000"/>
            <a:ext cx="8229600" cy="381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600" b="1" dirty="0">
                <a:solidFill>
                  <a:srgbClr val="8B949E"/>
                </a:solidFill>
                <a:latin typeface="Consolas"/>
              </a:rPr>
              <a:t>&gt; obrigado · Andrews Rodrigues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B52D1DC-05F8-9757-B4D1-96FB552AE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996" y="3768709"/>
            <a:ext cx="2847942" cy="3089291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E5A7BA8-E0DF-81F3-0900-A8DAFCCB5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594360" y="5715000"/>
            <a:ext cx="940860" cy="931634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3003292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474539-AB62-E9B8-24A9-EAD082203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52893"/>
            <a:ext cx="6377940" cy="1293028"/>
          </a:xfrm>
        </p:spPr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6344C0-4825-864D-490A-699E19F42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464" y="1618488"/>
            <a:ext cx="8558784" cy="487375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400" dirty="0">
                <a:solidFill>
                  <a:srgbClr val="8B949E"/>
                </a:solidFill>
                <a:latin typeface="Consolas"/>
              </a:rPr>
              <a:t>// fontes públicas — valores em USD na data do incidente</a:t>
            </a:r>
          </a:p>
          <a:p>
            <a:pPr>
              <a:spcBef>
                <a:spcPts val="700"/>
              </a:spcBef>
              <a:buNone/>
            </a:pPr>
            <a:r>
              <a:rPr lang="en-US" sz="1500" b="1" dirty="0">
                <a:solidFill>
                  <a:srgbClr val="F43F5E"/>
                </a:solidFill>
                <a:latin typeface="Segoe UI"/>
              </a:rPr>
              <a:t>Ronin</a:t>
            </a:r>
            <a:r>
              <a:rPr lang="pt-BR" sz="1500" dirty="0">
                <a:solidFill>
                  <a:schemeClr val="tx1"/>
                </a:solidFill>
                <a:latin typeface="Segoe UI"/>
              </a:rPr>
              <a:t>  ·  ~$625M  ·  mar/2022</a:t>
            </a:r>
          </a:p>
          <a:p>
            <a:pPr marL="91440">
              <a:lnSpc>
                <a:spcPts val="15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nsolas"/>
              </a:rPr>
              <a:t>coindesk.com/tech/2022/03/29/axie-infinitys-ronin-network-suffers-625m-exploit</a:t>
            </a:r>
          </a:p>
          <a:p>
            <a:pPr marL="91440">
              <a:lnSpc>
                <a:spcPts val="15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nsolas"/>
              </a:rPr>
              <a:t>roninchain.com/blog/posts/back-to-building-ronin-security-breach</a:t>
            </a:r>
          </a:p>
          <a:p>
            <a:pPr>
              <a:spcBef>
                <a:spcPts val="700"/>
              </a:spcBef>
              <a:buNone/>
            </a:pPr>
            <a:r>
              <a:rPr lang="en-US" sz="1500" b="1" dirty="0">
                <a:solidFill>
                  <a:srgbClr val="FBBF24"/>
                </a:solidFill>
                <a:latin typeface="Segoe UI"/>
              </a:rPr>
              <a:t>Wormhole</a:t>
            </a:r>
            <a:r>
              <a:rPr lang="pt-BR" sz="1500" dirty="0">
                <a:solidFill>
                  <a:schemeClr val="tx1"/>
                </a:solidFill>
                <a:latin typeface="Segoe UI"/>
              </a:rPr>
              <a:t>  ·  ~$325M  ·  fev/2022</a:t>
            </a:r>
          </a:p>
          <a:p>
            <a:pPr marL="91440">
              <a:lnSpc>
                <a:spcPts val="15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nsolas"/>
              </a:rPr>
              <a:t>coindesk.com/tech/2022/02/02/blockchain-bridge-wormhole-suffers-possible-exploit</a:t>
            </a:r>
          </a:p>
          <a:p>
            <a:pPr marL="91440">
              <a:lnSpc>
                <a:spcPts val="15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nsolas"/>
              </a:rPr>
              <a:t>elliptic.co/blog/325-million-stolen-from-wormhole-defi-service</a:t>
            </a:r>
          </a:p>
          <a:p>
            <a:pPr>
              <a:spcBef>
                <a:spcPts val="700"/>
              </a:spcBef>
              <a:buNone/>
            </a:pPr>
            <a:r>
              <a:rPr lang="en-US" sz="1500" b="1" dirty="0">
                <a:solidFill>
                  <a:srgbClr val="A78BFA"/>
                </a:solidFill>
                <a:latin typeface="Segoe UI"/>
              </a:rPr>
              <a:t>Nomad</a:t>
            </a:r>
            <a:r>
              <a:rPr lang="pt-BR" sz="1500" dirty="0">
                <a:solidFill>
                  <a:schemeClr val="tx1"/>
                </a:solidFill>
                <a:latin typeface="Segoe UI"/>
              </a:rPr>
              <a:t>  ·  ~$190M  ·  ago/2022</a:t>
            </a:r>
          </a:p>
          <a:p>
            <a:pPr marL="91440">
              <a:lnSpc>
                <a:spcPts val="15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nsolas"/>
              </a:rPr>
              <a:t>halborn.com/blog/post/explained-the-nomad-hack-august-2022</a:t>
            </a:r>
          </a:p>
          <a:p>
            <a:pPr marL="91440">
              <a:lnSpc>
                <a:spcPts val="15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nsolas"/>
              </a:rPr>
              <a:t>cnbc.com/2022/08/05/crypto-startup-nomad-offers-10percent-bounty-after-190-million-hack.html</a:t>
            </a:r>
          </a:p>
          <a:p>
            <a:pPr>
              <a:spcBef>
                <a:spcPts val="700"/>
              </a:spcBef>
              <a:buNone/>
            </a:pPr>
            <a:r>
              <a:rPr lang="en-US" sz="1500" b="1" dirty="0">
                <a:solidFill>
                  <a:srgbClr val="22D3EE"/>
                </a:solidFill>
                <a:latin typeface="Segoe UI"/>
              </a:rPr>
              <a:t>Mango Markets</a:t>
            </a:r>
            <a:r>
              <a:rPr lang="pt-BR" sz="1500" dirty="0">
                <a:solidFill>
                  <a:schemeClr val="tx1"/>
                </a:solidFill>
                <a:latin typeface="Segoe UI"/>
              </a:rPr>
              <a:t>  ·  ~$114M  ·  out/2022</a:t>
            </a:r>
          </a:p>
          <a:p>
            <a:pPr marL="91440">
              <a:lnSpc>
                <a:spcPts val="15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nsolas"/>
              </a:rPr>
              <a:t>coindesk.com/markets/2022/10/12/how-market-manipulation-led-to-a-100m-exploit-on-solana-defi-exchange-mango</a:t>
            </a:r>
          </a:p>
          <a:p>
            <a:pPr marL="91440">
              <a:lnSpc>
                <a:spcPts val="15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nsolas"/>
              </a:rPr>
              <a:t>chainalysis.com/blog/oracle-manipulation-attacks-rising</a:t>
            </a:r>
          </a:p>
          <a:p>
            <a:pPr>
              <a:spcBef>
                <a:spcPts val="700"/>
              </a:spcBef>
              <a:buNone/>
            </a:pPr>
            <a:r>
              <a:rPr lang="en-US" sz="1500" b="1" dirty="0">
                <a:solidFill>
                  <a:srgbClr val="00E676"/>
                </a:solidFill>
                <a:latin typeface="Segoe UI"/>
              </a:rPr>
              <a:t>Parity</a:t>
            </a:r>
            <a:r>
              <a:rPr lang="pt-BR" sz="1500" dirty="0">
                <a:solidFill>
                  <a:schemeClr val="tx1"/>
                </a:solidFill>
                <a:latin typeface="Segoe UI"/>
              </a:rPr>
              <a:t>  ·  ~$280M congelados  ·  nov/2017</a:t>
            </a:r>
          </a:p>
          <a:p>
            <a:pPr marL="91440">
              <a:lnSpc>
                <a:spcPts val="15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nsolas"/>
              </a:rPr>
              <a:t>cnbc.com/2017/11/08/accidental-bug-may-have-frozen-280-worth-of-ether-on-parity-wallet.html</a:t>
            </a:r>
          </a:p>
          <a:p>
            <a:pPr marL="91440">
              <a:lnSpc>
                <a:spcPts val="15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nsolas"/>
              </a:rPr>
              <a:t>techcrunch.com/2017/11/07/a-major-vulnerability-has-frozen-hundreds-of-millions-of-dollars-of-ethereum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2685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312D0-00FE-A5A2-96AC-B19AC219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Ameaça Quântica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4DFA60-D11B-2EF2-7092-4EE4A1C65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711452"/>
            <a:ext cx="8595360" cy="4799076"/>
          </a:xfrm>
        </p:spPr>
        <p:txBody>
          <a:bodyPr/>
          <a:lstStyle/>
          <a:p>
            <a:pPr>
              <a:buNone/>
            </a:pPr>
            <a:r>
              <a:rPr lang="pt-BR" sz="1700" dirty="0">
                <a:solidFill>
                  <a:srgbClr val="ADBDCC"/>
                </a:solidFill>
                <a:latin typeface="Segoe UI"/>
              </a:rPr>
              <a:t>Um computador quântico potente quebra a criptografia de chave pública que protege carteiras e transações.</a:t>
            </a:r>
          </a:p>
        </p:txBody>
      </p:sp>
      <p:sp>
        <p:nvSpPr>
          <p:cNvPr id="60" name="ul"/>
          <p:cNvSpPr/>
          <p:nvPr/>
        </p:nvSpPr>
        <p:spPr>
          <a:xfrm>
            <a:off x="457200" y="1295400"/>
            <a:ext cx="1524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b70"/>
          <p:cNvSpPr/>
          <p:nvPr/>
        </p:nvSpPr>
        <p:spPr>
          <a:xfrm>
            <a:off x="457200" y="2286000"/>
            <a:ext cx="36576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22D3EE"/>
            </a:solidFill>
          </a:ln>
        </p:spPr>
        <p:txBody>
          <a:bodyPr lIns="108000" tIns="90000" rIns="108000" bIns="90000" anchor="ctr"/>
          <a:lstStyle/>
          <a:p>
            <a:pPr algn="ctr"/>
            <a:r>
              <a:rPr lang="en-US" sz="1300" b="1" dirty="0">
                <a:solidFill>
                  <a:srgbClr val="22D3EE"/>
                </a:solidFill>
                <a:latin typeface="Consolas"/>
              </a:rPr>
              <a:t>HOJE</a:t>
            </a:r>
          </a:p>
          <a:p>
            <a:pPr algn="ctr">
              <a:spcBef>
                <a:spcPts val="400"/>
              </a:spcBef>
            </a:pPr>
            <a:r>
              <a:rPr lang="en-US" sz="1900" b="1" dirty="0">
                <a:solidFill>
                  <a:schemeClr val="tx1"/>
                </a:solidFill>
                <a:latin typeface="Segoe UI"/>
              </a:rPr>
              <a:t>ECDSA / secp256k1</a:t>
            </a:r>
          </a:p>
          <a:p>
            <a:pPr algn="ctr">
              <a:spcBef>
                <a:spcPts val="300"/>
              </a:spcBef>
            </a:pPr>
            <a:r>
              <a:rPr lang="pt-BR" sz="1300" dirty="0">
                <a:solidFill>
                  <a:srgbClr val="ADBDCC"/>
                </a:solidFill>
                <a:latin typeface="Segoe UI"/>
              </a:rPr>
              <a:t>Assinaturas e chaves atuais</a:t>
            </a:r>
          </a:p>
        </p:txBody>
      </p:sp>
      <p:sp>
        <p:nvSpPr>
          <p:cNvPr id="71" name="b71"/>
          <p:cNvSpPr/>
          <p:nvPr/>
        </p:nvSpPr>
        <p:spPr>
          <a:xfrm>
            <a:off x="5029200" y="2286000"/>
            <a:ext cx="36576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00E676"/>
            </a:solidFill>
          </a:ln>
        </p:spPr>
        <p:txBody>
          <a:bodyPr lIns="108000" tIns="90000" rIns="108000" bIns="90000" anchor="ctr"/>
          <a:lstStyle/>
          <a:p>
            <a:pPr algn="ctr"/>
            <a:r>
              <a:rPr lang="en-US" sz="1300" b="1" dirty="0">
                <a:solidFill>
                  <a:srgbClr val="00E676"/>
                </a:solidFill>
                <a:latin typeface="Consolas"/>
              </a:rPr>
              <a:t>FUTURO</a:t>
            </a:r>
          </a:p>
          <a:p>
            <a:pPr algn="ctr">
              <a:spcBef>
                <a:spcPts val="400"/>
              </a:spcBef>
            </a:pPr>
            <a:r>
              <a:rPr lang="en-US" sz="1900" b="1" dirty="0">
                <a:solidFill>
                  <a:schemeClr val="tx1"/>
                </a:solidFill>
                <a:latin typeface="Segoe UI"/>
              </a:rPr>
              <a:t>Criptografia Pós-Quântica</a:t>
            </a:r>
          </a:p>
          <a:p>
            <a:pPr algn="ctr">
              <a:spcBef>
                <a:spcPts val="300"/>
              </a:spcBef>
            </a:pPr>
            <a:r>
              <a:rPr lang="pt-BR" sz="1300" dirty="0">
                <a:solidFill>
                  <a:srgbClr val="ADBDCC"/>
                </a:solidFill>
                <a:latin typeface="Segoe UI"/>
              </a:rPr>
              <a:t>PQC padronizada pelo NIST</a:t>
            </a:r>
          </a:p>
        </p:txBody>
      </p:sp>
      <p:sp>
        <p:nvSpPr>
          <p:cNvPr id="72" name="ar"/>
          <p:cNvSpPr/>
          <p:nvPr/>
        </p:nvSpPr>
        <p:spPr>
          <a:xfrm>
            <a:off x="4191000" y="2844800"/>
            <a:ext cx="762000" cy="406400"/>
          </a:xfrm>
          <a:prstGeom prst="rightArrow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arl"/>
          <p:cNvSpPr/>
          <p:nvPr/>
        </p:nvSpPr>
        <p:spPr>
          <a:xfrm>
            <a:off x="3962400" y="2489200"/>
            <a:ext cx="1219200" cy="279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F43F5E"/>
                </a:solidFill>
                <a:latin typeface="Consolas"/>
              </a:rPr>
              <a:t>Shor</a:t>
            </a:r>
          </a:p>
        </p:txBody>
      </p:sp>
      <p:sp>
        <p:nvSpPr>
          <p:cNvPr id="80" name="harvest"/>
          <p:cNvSpPr/>
          <p:nvPr/>
        </p:nvSpPr>
        <p:spPr>
          <a:xfrm>
            <a:off x="457200" y="4038600"/>
            <a:ext cx="8229600" cy="939800"/>
          </a:xfrm>
          <a:prstGeom prst="roundRect">
            <a:avLst>
              <a:gd name="adj" fmla="val 7000"/>
            </a:avLst>
          </a:prstGeom>
          <a:solidFill>
            <a:srgbClr val="2E2410"/>
          </a:solidFill>
          <a:ln w="12700">
            <a:solidFill>
              <a:srgbClr val="FBBF24"/>
            </a:solidFill>
          </a:ln>
        </p:spPr>
        <p:txBody>
          <a:bodyPr lIns="144000" tIns="54000" rIns="144000" bIns="54000" anchor="ctr"/>
          <a:lstStyle/>
          <a:p>
            <a:r>
              <a:rPr lang="en-US" sz="1500" b="1" dirty="0">
                <a:solidFill>
                  <a:srgbClr val="FBBF24"/>
                </a:solidFill>
                <a:latin typeface="Segoe UI"/>
              </a:rPr>
              <a:t>Harvest-now, decrypt-later: </a:t>
            </a:r>
            <a:r>
              <a:rPr lang="pt-BR" sz="1500" dirty="0">
                <a:solidFill>
                  <a:schemeClr val="tx1"/>
                </a:solidFill>
                <a:latin typeface="Segoe UI"/>
              </a:rPr>
              <a:t>adversários capturam hoje dados cifrados para decifrá-los quando o quântico amadurecer.</a:t>
            </a:r>
          </a:p>
        </p:txBody>
      </p:sp>
      <p:sp>
        <p:nvSpPr>
          <p:cNvPr id="90" name="n90"/>
          <p:cNvSpPr/>
          <p:nvPr/>
        </p:nvSpPr>
        <p:spPr>
          <a:xfrm>
            <a:off x="457200" y="5130800"/>
            <a:ext cx="4013200" cy="939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43F5E"/>
            </a:solidFill>
          </a:ln>
        </p:spPr>
        <p:txBody>
          <a:bodyPr lIns="108000" tIns="54000" rIns="108000" bIns="54000" anchor="ctr"/>
          <a:lstStyle/>
          <a:p>
            <a:r>
              <a:rPr lang="pt-BR" sz="1400" b="1" dirty="0">
                <a:solidFill>
                  <a:srgbClr val="F43F5E"/>
                </a:solidFill>
                <a:latin typeface="Segoe UI"/>
              </a:rPr>
              <a:t>O que quebra</a:t>
            </a:r>
          </a:p>
          <a:p>
            <a:pPr>
              <a:spcBef>
                <a:spcPts val="200"/>
              </a:spcBef>
            </a:pPr>
            <a:r>
              <a:rPr lang="pt-BR" sz="1300" dirty="0">
                <a:solidFill>
                  <a:srgbClr val="C9D1D9"/>
                </a:solidFill>
                <a:latin typeface="Segoe UI"/>
              </a:rPr>
              <a:t>Assinaturas ECDSA e derivação de chaves públicas</a:t>
            </a:r>
          </a:p>
        </p:txBody>
      </p:sp>
      <p:sp>
        <p:nvSpPr>
          <p:cNvPr id="91" name="n91"/>
          <p:cNvSpPr/>
          <p:nvPr/>
        </p:nvSpPr>
        <p:spPr>
          <a:xfrm>
            <a:off x="4673600" y="5130800"/>
            <a:ext cx="4013200" cy="939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00E676"/>
            </a:solidFill>
          </a:ln>
        </p:spPr>
        <p:txBody>
          <a:bodyPr lIns="108000" tIns="54000" rIns="108000" bIns="54000" anchor="ctr"/>
          <a:lstStyle/>
          <a:p>
            <a:r>
              <a:rPr lang="pt-BR" sz="1400" b="1" dirty="0">
                <a:solidFill>
                  <a:srgbClr val="00E676"/>
                </a:solidFill>
                <a:latin typeface="Segoe UI"/>
              </a:rPr>
              <a:t>Mitigação</a:t>
            </a:r>
          </a:p>
          <a:p>
            <a:pPr>
              <a:spcBef>
                <a:spcPts val="200"/>
              </a:spcBef>
            </a:pPr>
            <a:r>
              <a:rPr lang="pt-BR" sz="1300" dirty="0">
                <a:solidFill>
                  <a:srgbClr val="C9D1D9"/>
                </a:solidFill>
                <a:latin typeface="Segoe UI"/>
              </a:rPr>
              <a:t>Migrar carteiras e contratos para esquemas PQC</a:t>
            </a:r>
          </a:p>
        </p:txBody>
      </p:sp>
    </p:spTree>
    <p:extLst>
      <p:ext uri="{BB962C8B-B14F-4D97-AF65-F5344CB8AC3E}">
        <p14:creationId xmlns:p14="http://schemas.microsoft.com/office/powerpoint/2010/main" val="792034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83446"/>
      </p:ext>
    </p:extLst>
  </p:cSld>
  <p:clrMapOvr>
    <a:masterClrMapping/>
  </p:clrMapOvr>
</p:sld>
</file>

<file path=ppt/theme/theme1.xml><?xml version="1.0" encoding="utf-8"?>
<a:theme xmlns:a="http://schemas.openxmlformats.org/drawingml/2006/main" name="Trilha de Vapor">
  <a:themeElements>
    <a:clrScheme name="Trilha de Vapor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Trilha de Vapor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ilha de Vapor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1E589B-1A71-496F-BC31-7B8653E308CE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a7218862-7438-40d6-85ee-f414e6a4a14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TM04033937[[fn=Trilha de Vapor]]</Template>
  <TotalTime>1699</TotalTime>
  <Words>1287</Words>
  <Application>Microsoft Office PowerPoint</Application>
  <PresentationFormat>Apresentação na tela (4:3)</PresentationFormat>
  <Paragraphs>248</Paragraphs>
  <Slides>23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Century Gothic</vt:lpstr>
      <vt:lpstr>Consolas</vt:lpstr>
      <vt:lpstr>Segoe UI</vt:lpstr>
      <vt:lpstr>Trilha de Vapor</vt:lpstr>
      <vt:lpstr>Anatomia dos Hacks na Web3</vt:lpstr>
      <vt:lpstr>Palestrante</vt:lpstr>
      <vt:lpstr>Tese Central</vt:lpstr>
      <vt:lpstr>O Estado da Segurança Web3</vt:lpstr>
      <vt:lpstr>Taxonomia dos Hacks</vt:lpstr>
      <vt:lpstr>Smart Contract Vulnerabilities</vt:lpstr>
      <vt:lpstr>Reentrancy</vt:lpstr>
      <vt:lpstr>Access Control</vt:lpstr>
      <vt:lpstr>Upgradeability</vt:lpstr>
      <vt:lpstr>Ataques Econômicos</vt:lpstr>
      <vt:lpstr>Caso Mango Markets</vt:lpstr>
      <vt:lpstr>Oracle Manipulation</vt:lpstr>
      <vt:lpstr>Bridges</vt:lpstr>
      <vt:lpstr>Casos Reais</vt:lpstr>
      <vt:lpstr>Gestão de Chaves</vt:lpstr>
      <vt:lpstr>Supply Chain Attacks</vt:lpstr>
      <vt:lpstr>Lições dos Grandes Hacks</vt:lpstr>
      <vt:lpstr>Apresentação do PowerPoint</vt:lpstr>
      <vt:lpstr>O Futuro</vt:lpstr>
      <vt:lpstr>Conclusão</vt:lpstr>
      <vt:lpstr>Referências</vt:lpstr>
      <vt:lpstr>Ameaça Quântica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Andrews Nobre</cp:lastModifiedBy>
  <cp:revision>28</cp:revision>
  <dcterms:created xsi:type="dcterms:W3CDTF">2013-01-27T09:14:16Z</dcterms:created>
  <dcterms:modified xsi:type="dcterms:W3CDTF">2026-06-24T13:34:19Z</dcterms:modified>
  <cp:category/>
</cp:coreProperties>
</file>